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0160AF2-51BA-46C4-BA29-B140035607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D290144-DC2C-46CF-9E24-E3A6C0F894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7311AC9-10DF-4DDC-8020-85872871D2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81A9473-3BF3-4453-8703-C4CA3A790D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1677C77-C623-4693-934B-FE46B8863E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48C3D49-D583-4B82-BD4A-9FAD547A57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916D400D-3F7B-40A0-A9DF-EDFD588AA3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BE435FC-07D4-443F-9D2C-BA4A228C777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F56815F-0C5C-4B38-B4A7-AEA9DAD034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5B0A90A8-0E77-45A9-B5CE-E3D923DD03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CA63950D-F0E7-4BB6-8427-F58F12EA33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B0952A-13C1-4979-8DAD-B32C57CAAAE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E30654-1719-4B1E-839C-DA496E254A4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4D0DB1-322D-4918-B18A-2D1D56D2322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834B91-AC63-4F9E-B417-B7A8D95804C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EBE88C-C615-4CB3-BEF7-FA7B109F142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D529802-DE39-44D5-A3E2-1A5B420207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FA3595-038D-478F-AC3A-73C3E9AD802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2651FD1-4A15-4338-B51D-AB1883FFE25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9BAABA4-B973-4FB5-BB16-38768C50A81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C0ECEF-F200-4DB3-B50A-B91D83EB6E2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4B50885-5F9C-4943-A698-D4885645C48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029200"/>
            <a:ext cx="12188520" cy="182844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4846320"/>
            <a:ext cx="12188520" cy="543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548640"/>
            <a:ext cx="137124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400" spc="-1" strike="noStrike">
                <a:solidFill>
                  <a:srgbClr val="ffffff"/>
                </a:solidFill>
                <a:latin typeface="Calibri"/>
              </a:rPr>
              <a:t>🛡️</a:t>
            </a:r>
            <a:endParaRPr b="0" lang="en-US" sz="6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1828800" y="457200"/>
            <a:ext cx="914364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</a:rPr>
              <a:t>HSE AI Analytics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1828800" y="1600200"/>
            <a:ext cx="91436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bad4f8"/>
                </a:solidFill>
                <a:latin typeface="Calibri"/>
              </a:rPr>
              <a:t>AI-аналитика охраны труда и промышленной безопасности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ectangle 7"/>
          <p:cNvSpPr/>
          <p:nvPr/>
        </p:nvSpPr>
        <p:spPr>
          <a:xfrm>
            <a:off x="1828800" y="2286000"/>
            <a:ext cx="3657240" cy="453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828800" y="2468880"/>
            <a:ext cx="548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59e0b"/>
                </a:solidFill>
                <a:latin typeface="Calibri"/>
              </a:rPr>
              <a:t>KMG Hackathon 2026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457200" y="530352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4a3b8"/>
                </a:solidFill>
                <a:latin typeface="Calibri"/>
              </a:rPr>
              <a:t>Предиктивный инструмент управления безопасностью с измеримым экономическим эффектом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457200" y="585216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64748b"/>
                </a:solidFill>
                <a:latin typeface="Calibri"/>
              </a:rPr>
              <a:t>FastAPI  •  Prophet  •  Gemini 2.0 Flash  •  Streamlit  •  Docker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1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365760" y="13716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Проблема: реактивный подход к безопасности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4"/>
          <p:cNvSpPr/>
          <p:nvPr/>
        </p:nvSpPr>
        <p:spPr>
          <a:xfrm>
            <a:off x="365760" y="7498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Текущее состояние охраны труда в нефтегазовой отрасли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" y="1371600"/>
            <a:ext cx="3611520" cy="127980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274320" y="1463040"/>
            <a:ext cx="36115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18 НС/год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7"/>
          <p:cNvSpPr/>
          <p:nvPr/>
        </p:nvSpPr>
        <p:spPr>
          <a:xfrm>
            <a:off x="274320" y="2103120"/>
            <a:ext cx="361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Несчастных случаев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4160520" y="1371600"/>
            <a:ext cx="3611520" cy="127980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9"/>
          <p:cNvSpPr/>
          <p:nvPr/>
        </p:nvSpPr>
        <p:spPr>
          <a:xfrm>
            <a:off x="4160520" y="1463040"/>
            <a:ext cx="36115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120 микротравм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4160520" y="2103120"/>
            <a:ext cx="361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Ежегодно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046720" y="1371600"/>
            <a:ext cx="3611520" cy="1279800"/>
          </a:xfrm>
          <a:prstGeom prst="rect">
            <a:avLst/>
          </a:prstGeom>
          <a:solidFill>
            <a:srgbClr val="2d6a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8046720" y="1463040"/>
            <a:ext cx="36115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72 часа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3"/>
          <p:cNvSpPr/>
          <p:nvPr/>
        </p:nvSpPr>
        <p:spPr>
          <a:xfrm>
            <a:off x="8046720" y="2103120"/>
            <a:ext cx="361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Среднее время реагирования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274320" y="2834640"/>
            <a:ext cx="11639880" cy="3108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15"/>
          <p:cNvSpPr/>
          <p:nvPr/>
        </p:nvSpPr>
        <p:spPr>
          <a:xfrm>
            <a:off x="457200" y="2926080"/>
            <a:ext cx="548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e3a8a"/>
                </a:solidFill>
                <a:latin typeface="Calibri"/>
              </a:rPr>
              <a:t>Ключевые проблемы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16"/>
          <p:cNvSpPr/>
          <p:nvPr/>
        </p:nvSpPr>
        <p:spPr>
          <a:xfrm>
            <a:off x="457200" y="333756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❌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Нет предиктивной аналитики — инциденты расследуются постфактум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17"/>
          <p:cNvSpPr/>
          <p:nvPr/>
        </p:nvSpPr>
        <p:spPr>
          <a:xfrm>
            <a:off x="457200" y="384048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❌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Данные Карт Коргау и происшествий не связаны между собой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457200" y="434340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❌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Ручной анализ сотен наблюдений занимает дни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457200" y="484632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❌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Экономический эффект мер безопасности не рассчитывается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20"/>
          <p:cNvSpPr/>
          <p:nvPr/>
        </p:nvSpPr>
        <p:spPr>
          <a:xfrm>
            <a:off x="457200" y="534924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❌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350 опасных ситуаций в год остаются без превентивных мер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21"/>
          <p:cNvSpPr/>
          <p:nvPr/>
        </p:nvSpPr>
        <p:spPr>
          <a:xfrm>
            <a:off x="274320" y="6080760"/>
            <a:ext cx="11639880" cy="45684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TextBox 22"/>
          <p:cNvSpPr/>
          <p:nvPr/>
        </p:nvSpPr>
        <p:spPr>
          <a:xfrm>
            <a:off x="274320" y="6108120"/>
            <a:ext cx="1163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Потери: ~200 млн ₸/год   |   Цена бездействия растёт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23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24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2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365760" y="13716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Решение: HSE AI Analytics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4"/>
          <p:cNvSpPr/>
          <p:nvPr/>
        </p:nvSpPr>
        <p:spPr>
          <a:xfrm>
            <a:off x="365760" y="7498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AI-аналитический слой поверх двух модулей HSE-системы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ectangle 5"/>
          <p:cNvSpPr/>
          <p:nvPr/>
        </p:nvSpPr>
        <p:spPr>
          <a:xfrm>
            <a:off x="274320" y="1325880"/>
            <a:ext cx="5760360" cy="43887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411480" y="1371600"/>
            <a:ext cx="548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Компонент A — Инциденты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7"/>
          <p:cNvSpPr/>
          <p:nvPr/>
        </p:nvSpPr>
        <p:spPr>
          <a:xfrm>
            <a:off x="274320" y="1920240"/>
            <a:ext cx="5760360" cy="27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8"/>
          <p:cNvSpPr/>
          <p:nvPr/>
        </p:nvSpPr>
        <p:spPr>
          <a:xfrm>
            <a:off x="411480" y="2011680"/>
            <a:ext cx="5486040" cy="19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NLP-классификация описаний (Gemini)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Паттерны по типу, орг., локации, смене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Кластеризация причин (TF-IDF + KMeans)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Топ-5 рекомендаций от AI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Prophet-прогноз + сценарный анализ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CV-анализ фото (Gemini Vision)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325880"/>
            <a:ext cx="5760360" cy="4388760"/>
          </a:xfrm>
          <a:prstGeom prst="rect">
            <a:avLst/>
          </a:prstGeom>
          <a:solidFill>
            <a:srgbClr val="2d6a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6446520" y="1371600"/>
            <a:ext cx="548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Компонент B — Карты Коргау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ectangle 11"/>
          <p:cNvSpPr/>
          <p:nvPr/>
        </p:nvSpPr>
        <p:spPr>
          <a:xfrm>
            <a:off x="6309360" y="1920240"/>
            <a:ext cx="5760360" cy="27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446520" y="2011680"/>
            <a:ext cx="5486040" cy="19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Паттерны нарушений по орг./категориям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4-уровневая система алертов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Рейтинг организаций по compliance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Корреляция нарушений с инцидентами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Pre-alert при росте нарушений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AI-кластеризация наблюдений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13"/>
          <p:cNvSpPr/>
          <p:nvPr/>
        </p:nvSpPr>
        <p:spPr>
          <a:xfrm>
            <a:off x="5623560" y="3200400"/>
            <a:ext cx="91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1e3a8a"/>
                </a:solidFill>
                <a:latin typeface="Calibri"/>
              </a:rPr>
              <a:t>+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 14"/>
          <p:cNvSpPr/>
          <p:nvPr/>
        </p:nvSpPr>
        <p:spPr>
          <a:xfrm>
            <a:off x="274320" y="5806440"/>
            <a:ext cx="11612520" cy="8226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15"/>
          <p:cNvSpPr/>
          <p:nvPr/>
        </p:nvSpPr>
        <p:spPr>
          <a:xfrm>
            <a:off x="274320" y="5806440"/>
            <a:ext cx="11612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15 REST-эндпоинтов  •  Streamlit-дашборд  •  PDF-отчёт  •  Сценарный анализ  •  Docker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16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17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3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Rectangle 2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3"/>
          <p:cNvSpPr/>
          <p:nvPr/>
        </p:nvSpPr>
        <p:spPr>
          <a:xfrm>
            <a:off x="365760" y="13716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ML/AI — что это значит простым языком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365760" y="7498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Объяснение ключевых терминов для не-технических слушателей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274320" y="132588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Rectangle 6"/>
          <p:cNvSpPr/>
          <p:nvPr/>
        </p:nvSpPr>
        <p:spPr>
          <a:xfrm>
            <a:off x="274320" y="1325880"/>
            <a:ext cx="727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457200" y="137160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Prophet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57200" y="167328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Модель Facebook для прогноза временных рядов. Как Excel-тренд, но умнее —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учитывает сезонность (зима/лето), тренд (растёт/падает) и аномалии.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6236280" y="132588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10"/>
          <p:cNvSpPr/>
          <p:nvPr/>
        </p:nvSpPr>
        <p:spPr>
          <a:xfrm>
            <a:off x="6236280" y="1325880"/>
            <a:ext cx="72720" cy="1188360"/>
          </a:xfrm>
          <a:prstGeom prst="rect">
            <a:avLst/>
          </a:prstGeom>
          <a:solidFill>
            <a:srgbClr val="2d6a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6419160" y="137160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d6ad4"/>
                </a:solidFill>
                <a:latin typeface="Calibri"/>
              </a:rPr>
              <a:t>TF-IDF + KMeans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6419160" y="167328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TF-IDF: превращает текст в числа — считает «насколько важно это слово в документе».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KMeans: группирует похожие тексты в кластеры. Как сортировка писем по темам.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13"/>
          <p:cNvSpPr/>
          <p:nvPr/>
        </p:nvSpPr>
        <p:spPr>
          <a:xfrm>
            <a:off x="274320" y="265176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14"/>
          <p:cNvSpPr/>
          <p:nvPr/>
        </p:nvSpPr>
        <p:spPr>
          <a:xfrm>
            <a:off x="274320" y="2651760"/>
            <a:ext cx="72720" cy="118836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15"/>
          <p:cNvSpPr/>
          <p:nvPr/>
        </p:nvSpPr>
        <p:spPr>
          <a:xfrm>
            <a:off x="457200" y="269748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2c55e"/>
                </a:solidFill>
                <a:latin typeface="Calibri"/>
              </a:rPr>
              <a:t>Pearson r (корреляция)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16"/>
          <p:cNvSpPr/>
          <p:nvPr/>
        </p:nvSpPr>
        <p:spPr>
          <a:xfrm>
            <a:off x="457200" y="299916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Число от -1 до +1. Показывает связь двух величин. r=0.4 значит «когда нарушений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больше — инцидентов тоже больше, но не всегда». Это связь, не причина!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ectangle 17"/>
          <p:cNvSpPr/>
          <p:nvPr/>
        </p:nvSpPr>
        <p:spPr>
          <a:xfrm>
            <a:off x="6236280" y="265176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Rectangle 18"/>
          <p:cNvSpPr/>
          <p:nvPr/>
        </p:nvSpPr>
        <p:spPr>
          <a:xfrm>
            <a:off x="6236280" y="2651760"/>
            <a:ext cx="72720" cy="11883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9"/>
          <p:cNvSpPr/>
          <p:nvPr/>
        </p:nvSpPr>
        <p:spPr>
          <a:xfrm>
            <a:off x="6419160" y="269748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</a:rPr>
              <a:t>Silhouette Score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20"/>
          <p:cNvSpPr/>
          <p:nvPr/>
        </p:nvSpPr>
        <p:spPr>
          <a:xfrm>
            <a:off x="6419160" y="299916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Оценка качества кластеризации от -1 до 1. Наш 0.835 = «кластеры чёткие, группы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хорошо разделены». &gt;0.7 = отлично, &lt;0.3 = плохо.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21"/>
          <p:cNvSpPr/>
          <p:nvPr/>
        </p:nvSpPr>
        <p:spPr>
          <a:xfrm>
            <a:off x="274320" y="397764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Rectangle 22"/>
          <p:cNvSpPr/>
          <p:nvPr/>
        </p:nvSpPr>
        <p:spPr>
          <a:xfrm>
            <a:off x="274320" y="3977640"/>
            <a:ext cx="72720" cy="11883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23"/>
          <p:cNvSpPr/>
          <p:nvPr/>
        </p:nvSpPr>
        <p:spPr>
          <a:xfrm>
            <a:off x="457200" y="402336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f4444"/>
                </a:solidFill>
                <a:latin typeface="Calibri"/>
              </a:rPr>
              <a:t>MAE / RMSE / MAPE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24"/>
          <p:cNvSpPr/>
          <p:nvPr/>
        </p:nvSpPr>
        <p:spPr>
          <a:xfrm>
            <a:off x="457200" y="432504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Метрики ошибки прогноза. MAE: «в среднем ошибаемся на X инцидентов».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RMSE: то же, но штрафует большие ошибки сильнее. MAPE: ошибка в процентах.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25"/>
          <p:cNvSpPr/>
          <p:nvPr/>
        </p:nvSpPr>
        <p:spPr>
          <a:xfrm>
            <a:off x="6236280" y="397764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Rectangle 26"/>
          <p:cNvSpPr/>
          <p:nvPr/>
        </p:nvSpPr>
        <p:spPr>
          <a:xfrm>
            <a:off x="6236280" y="3977640"/>
            <a:ext cx="72720" cy="1188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27"/>
          <p:cNvSpPr/>
          <p:nvPr/>
        </p:nvSpPr>
        <p:spPr>
          <a:xfrm>
            <a:off x="6419160" y="4023360"/>
            <a:ext cx="24962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Confidence Interval (95% CI)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28"/>
          <p:cNvSpPr/>
          <p:nvPr/>
        </p:nvSpPr>
        <p:spPr>
          <a:xfrm>
            <a:off x="6419160" y="432504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Коридор прогноза: «мы на 95% уверены что реальное значение будет в этих границах».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Узкий CI = уверенный прогноз. Широкий CI = большая неопределённость.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29"/>
          <p:cNvSpPr/>
          <p:nvPr/>
        </p:nvSpPr>
        <p:spPr>
          <a:xfrm>
            <a:off x="274320" y="530352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Rectangle 30"/>
          <p:cNvSpPr/>
          <p:nvPr/>
        </p:nvSpPr>
        <p:spPr>
          <a:xfrm>
            <a:off x="274320" y="5303520"/>
            <a:ext cx="727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31"/>
          <p:cNvSpPr/>
          <p:nvPr/>
        </p:nvSpPr>
        <p:spPr>
          <a:xfrm>
            <a:off x="457200" y="534924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Zero-shot (Gemini)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32"/>
          <p:cNvSpPr/>
          <p:nvPr/>
        </p:nvSpPr>
        <p:spPr>
          <a:xfrm>
            <a:off x="457200" y="565092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AI классифицирует текст БЕЗ обучения на наших данных. Мы просто описываем задачу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в промпте, и LLM применяет свои знания. Быстро, но нужно валидировать.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33"/>
          <p:cNvSpPr/>
          <p:nvPr/>
        </p:nvSpPr>
        <p:spPr>
          <a:xfrm>
            <a:off x="6236280" y="5303520"/>
            <a:ext cx="5687280" cy="1188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Rectangle 34"/>
          <p:cNvSpPr/>
          <p:nvPr/>
        </p:nvSpPr>
        <p:spPr>
          <a:xfrm>
            <a:off x="6236280" y="5303520"/>
            <a:ext cx="72720" cy="1188360"/>
          </a:xfrm>
          <a:prstGeom prst="rect">
            <a:avLst/>
          </a:prstGeom>
          <a:solidFill>
            <a:srgbClr val="2d6a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35"/>
          <p:cNvSpPr/>
          <p:nvPr/>
        </p:nvSpPr>
        <p:spPr>
          <a:xfrm>
            <a:off x="6419160" y="534924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d6ad4"/>
                </a:solidFill>
                <a:latin typeface="Calibri"/>
              </a:rPr>
              <a:t>Risk Scoring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36"/>
          <p:cNvSpPr/>
          <p:nvPr/>
        </p:nvSpPr>
        <p:spPr>
          <a:xfrm>
            <a:off x="6419160" y="565092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Формула: каждой организации присваивается балл 0–100 на основе 4 факторов: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частота инцидентов (35%) + нарушения (30%) + тренд (20%) + тяжесть (15%).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37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38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4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"/>
          <p:cNvSpPr/>
          <p:nvPr/>
        </p:nvSpPr>
        <p:spPr>
          <a:xfrm>
            <a:off x="365760" y="13716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ML/AI пайплайн — как система предсказывает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4"/>
          <p:cNvSpPr/>
          <p:nvPr/>
        </p:nvSpPr>
        <p:spPr>
          <a:xfrm>
            <a:off x="365760" y="7498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От сырых данных к предиктивным решениям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Rectangle 5"/>
          <p:cNvSpPr/>
          <p:nvPr/>
        </p:nvSpPr>
        <p:spPr>
          <a:xfrm>
            <a:off x="137160" y="1325880"/>
            <a:ext cx="2239920" cy="292572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228600" y="1371600"/>
            <a:ext cx="2057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1. ETL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7"/>
          <p:cNvSpPr/>
          <p:nvPr/>
        </p:nvSpPr>
        <p:spPr>
          <a:xfrm>
            <a:off x="228600" y="2011680"/>
            <a:ext cx="2057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xlsx → pandas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Очистка: NaT, пропуски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Обогащение: смены,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стаж, тип, тяжесть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2377440" y="256032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59e0b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ectangle 9"/>
          <p:cNvSpPr/>
          <p:nvPr/>
        </p:nvSpPr>
        <p:spPr>
          <a:xfrm>
            <a:off x="2541960" y="1325880"/>
            <a:ext cx="2239920" cy="2925720"/>
          </a:xfrm>
          <a:prstGeom prst="rect">
            <a:avLst/>
          </a:prstGeom>
          <a:solidFill>
            <a:srgbClr val="2d6a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10"/>
          <p:cNvSpPr/>
          <p:nvPr/>
        </p:nvSpPr>
        <p:spPr>
          <a:xfrm>
            <a:off x="2633400" y="1371600"/>
            <a:ext cx="205704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2. Feature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Engineering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11"/>
          <p:cNvSpPr/>
          <p:nvPr/>
        </p:nvSpPr>
        <p:spPr>
          <a:xfrm>
            <a:off x="2633400" y="2011680"/>
            <a:ext cx="2057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Агрегация по месяцам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Rolling avg (3 мес)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MoM % изменение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Смена: день/вечер/ночь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12"/>
          <p:cNvSpPr/>
          <p:nvPr/>
        </p:nvSpPr>
        <p:spPr>
          <a:xfrm>
            <a:off x="4782240" y="256032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59e0b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 13"/>
          <p:cNvSpPr/>
          <p:nvPr/>
        </p:nvSpPr>
        <p:spPr>
          <a:xfrm>
            <a:off x="4946760" y="1325880"/>
            <a:ext cx="2239920" cy="29257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14"/>
          <p:cNvSpPr/>
          <p:nvPr/>
        </p:nvSpPr>
        <p:spPr>
          <a:xfrm>
            <a:off x="5038200" y="1371600"/>
            <a:ext cx="2057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3. ML Models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15"/>
          <p:cNvSpPr/>
          <p:nvPr/>
        </p:nvSpPr>
        <p:spPr>
          <a:xfrm>
            <a:off x="5038200" y="2011680"/>
            <a:ext cx="2057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Prophet: тренд + сезонность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KMeans: кластеры причин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Pearson/Spearman: связь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Risk Scoring: формула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16"/>
          <p:cNvSpPr/>
          <p:nvPr/>
        </p:nvSpPr>
        <p:spPr>
          <a:xfrm>
            <a:off x="7187040" y="256032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59e0b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7351920" y="1325880"/>
            <a:ext cx="2239920" cy="292572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TextBox 18"/>
          <p:cNvSpPr/>
          <p:nvPr/>
        </p:nvSpPr>
        <p:spPr>
          <a:xfrm>
            <a:off x="7443360" y="1371600"/>
            <a:ext cx="2057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4. NLP / CV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Box 19"/>
          <p:cNvSpPr/>
          <p:nvPr/>
        </p:nvSpPr>
        <p:spPr>
          <a:xfrm>
            <a:off x="7443360" y="2011680"/>
            <a:ext cx="2057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Gemini Flash: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• </a:t>
            </a: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классификация инцидентов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• </a:t>
            </a: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рекомендации (топ-5)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• </a:t>
            </a: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анализ фото (Vision)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20"/>
          <p:cNvSpPr/>
          <p:nvPr/>
        </p:nvSpPr>
        <p:spPr>
          <a:xfrm>
            <a:off x="9592200" y="256032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59e0b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21"/>
          <p:cNvSpPr/>
          <p:nvPr/>
        </p:nvSpPr>
        <p:spPr>
          <a:xfrm>
            <a:off x="9756720" y="1325880"/>
            <a:ext cx="2239920" cy="292572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22"/>
          <p:cNvSpPr/>
          <p:nvPr/>
        </p:nvSpPr>
        <p:spPr>
          <a:xfrm>
            <a:off x="9848160" y="1371600"/>
            <a:ext cx="2057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5. Predict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23"/>
          <p:cNvSpPr/>
          <p:nvPr/>
        </p:nvSpPr>
        <p:spPr>
          <a:xfrm>
            <a:off x="9848160" y="2011680"/>
            <a:ext cx="2057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Прогноз на 12 мес + 95% CI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Риск-скор 0–100 по орг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Сценарий: мера → экономия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Алерты: 4 уровня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ectangle 24"/>
          <p:cNvSpPr/>
          <p:nvPr/>
        </p:nvSpPr>
        <p:spPr>
          <a:xfrm>
            <a:off x="274320" y="4434840"/>
            <a:ext cx="11639880" cy="21484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Rectangle 25"/>
          <p:cNvSpPr/>
          <p:nvPr/>
        </p:nvSpPr>
        <p:spPr>
          <a:xfrm>
            <a:off x="274320" y="4434840"/>
            <a:ext cx="11639880" cy="3654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26"/>
          <p:cNvSpPr/>
          <p:nvPr/>
        </p:nvSpPr>
        <p:spPr>
          <a:xfrm>
            <a:off x="457200" y="4480560"/>
            <a:ext cx="5486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Метрики качества ML-моделей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27"/>
          <p:cNvSpPr/>
          <p:nvPr/>
        </p:nvSpPr>
        <p:spPr>
          <a:xfrm>
            <a:off x="365760" y="489204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3a8a"/>
                </a:solidFill>
                <a:latin typeface="Calibri"/>
              </a:rPr>
              <a:t>Prophet Forecast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28"/>
          <p:cNvSpPr/>
          <p:nvPr/>
        </p:nvSpPr>
        <p:spPr>
          <a:xfrm>
            <a:off x="2194560" y="4892040"/>
            <a:ext cx="1645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MAE / RMSE / MAPE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29"/>
          <p:cNvSpPr/>
          <p:nvPr/>
        </p:nvSpPr>
        <p:spPr>
          <a:xfrm>
            <a:off x="3840480" y="4892040"/>
            <a:ext cx="2285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Backtesting: fitted vs actual.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На мок-данных — in-sample. В продакшене — walk-forward CV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30"/>
          <p:cNvSpPr/>
          <p:nvPr/>
        </p:nvSpPr>
        <p:spPr>
          <a:xfrm>
            <a:off x="6217920" y="489204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3a8a"/>
                </a:solidFill>
                <a:latin typeface="Calibri"/>
              </a:rPr>
              <a:t>KMeans Кластеры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31"/>
          <p:cNvSpPr/>
          <p:nvPr/>
        </p:nvSpPr>
        <p:spPr>
          <a:xfrm>
            <a:off x="8046720" y="4892040"/>
            <a:ext cx="1645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Silhouette = 0.835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32"/>
          <p:cNvSpPr/>
          <p:nvPr/>
        </p:nvSpPr>
        <p:spPr>
          <a:xfrm>
            <a:off x="9692640" y="489204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От -1 до 1. &gt;0.5 = хорошо, &gt;0.7 = сильные кластеры.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Davies-Bouldin = 1.204 (чем ниже тем лучше)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33"/>
          <p:cNvSpPr/>
          <p:nvPr/>
        </p:nvSpPr>
        <p:spPr>
          <a:xfrm>
            <a:off x="365760" y="571500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3a8a"/>
                </a:solidFill>
                <a:latin typeface="Calibri"/>
              </a:rPr>
              <a:t>Корреляция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34"/>
          <p:cNvSpPr/>
          <p:nvPr/>
        </p:nvSpPr>
        <p:spPr>
          <a:xfrm>
            <a:off x="2194560" y="5715000"/>
            <a:ext cx="1645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Pearson r = 0.415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35"/>
          <p:cNvSpPr/>
          <p:nvPr/>
        </p:nvSpPr>
        <p:spPr>
          <a:xfrm>
            <a:off x="3840480" y="5715000"/>
            <a:ext cx="2285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Нарушения Коргау ↔ инциденты. Умеренная связь (17% дисперсии).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p-value &lt; 0.05 — статистически значимо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36"/>
          <p:cNvSpPr/>
          <p:nvPr/>
        </p:nvSpPr>
        <p:spPr>
          <a:xfrm>
            <a:off x="6217920" y="571500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3a8a"/>
                </a:solidFill>
                <a:latin typeface="Calibri"/>
              </a:rPr>
              <a:t>Risk Scoring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37"/>
          <p:cNvSpPr/>
          <p:nvPr/>
        </p:nvSpPr>
        <p:spPr>
          <a:xfrm>
            <a:off x="8046720" y="5715000"/>
            <a:ext cx="1645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0–100 (4 уровня)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38"/>
          <p:cNvSpPr/>
          <p:nvPr/>
        </p:nvSpPr>
        <p:spPr>
          <a:xfrm>
            <a:off x="9692640" y="57150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Формула ТЗ: 0.35×incidents + 0.30×violations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</a:rPr>
              <a:t>+ 0.20×trend + 0.15×severity. Min-max нормализация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39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40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5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Rectangle 2"/>
          <p:cNvSpPr/>
          <p:nvPr/>
        </p:nvSpPr>
        <p:spPr>
          <a:xfrm>
            <a:off x="0" y="5669280"/>
            <a:ext cx="12188520" cy="13680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TextBox 3"/>
          <p:cNvSpPr/>
          <p:nvPr/>
        </p:nvSpPr>
        <p:spPr>
          <a:xfrm>
            <a:off x="457200" y="365760"/>
            <a:ext cx="112467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Попробуйте прямо сейчас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4"/>
          <p:cNvSpPr/>
          <p:nvPr/>
        </p:nvSpPr>
        <p:spPr>
          <a:xfrm>
            <a:off x="457200" y="1005840"/>
            <a:ext cx="11246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f59e0b"/>
                </a:solidFill>
                <a:latin typeface="Calibri"/>
              </a:rPr>
              <a:t>Откройте камеру телефона и наведите на QR-код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Picture 5" descr="qr_streamlit.png"/>
          <p:cNvPicPr/>
          <p:nvPr/>
        </p:nvPicPr>
        <p:blipFill>
          <a:blip r:embed="rId1"/>
          <a:stretch/>
        </p:blipFill>
        <p:spPr>
          <a:xfrm>
            <a:off x="4270320" y="1554480"/>
            <a:ext cx="3657240" cy="3657240"/>
          </a:xfrm>
          <a:prstGeom prst="rect">
            <a:avLst/>
          </a:prstGeom>
          <a:ln w="0">
            <a:noFill/>
          </a:ln>
        </p:spPr>
      </p:pic>
      <p:sp>
        <p:nvSpPr>
          <p:cNvPr id="203" name="TextBox 6"/>
          <p:cNvSpPr/>
          <p:nvPr/>
        </p:nvSpPr>
        <p:spPr>
          <a:xfrm>
            <a:off x="457200" y="5349240"/>
            <a:ext cx="1124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http://89.207.255.254:8502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7"/>
          <p:cNvSpPr/>
          <p:nvPr/>
        </p:nvSpPr>
        <p:spPr>
          <a:xfrm>
            <a:off x="457200" y="5806440"/>
            <a:ext cx="11246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ccff"/>
                </a:solidFill>
                <a:latin typeface="Calibri"/>
              </a:rPr>
              <a:t>Инциденты · Карты Коргау · Предикт · Алерты · PDF/Excel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8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9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9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Rectangle 2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365760" y="13716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Экономический эффект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4"/>
          <p:cNvSpPr/>
          <p:nvPr/>
        </p:nvSpPr>
        <p:spPr>
          <a:xfrm>
            <a:off x="365760" y="7498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Измеримый результат внедрения AI-аналитики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tangle 5"/>
          <p:cNvSpPr/>
          <p:nvPr/>
        </p:nvSpPr>
        <p:spPr>
          <a:xfrm>
            <a:off x="274320" y="1280160"/>
            <a:ext cx="11612520" cy="3654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TextBox 6"/>
          <p:cNvSpPr/>
          <p:nvPr/>
        </p:nvSpPr>
        <p:spPr>
          <a:xfrm>
            <a:off x="274320" y="128016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В ЛЮДЯХ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ectangle 7"/>
          <p:cNvSpPr/>
          <p:nvPr/>
        </p:nvSpPr>
        <p:spPr>
          <a:xfrm>
            <a:off x="274320" y="1691640"/>
            <a:ext cx="2239920" cy="123408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TextBox 8"/>
          <p:cNvSpPr/>
          <p:nvPr/>
        </p:nvSpPr>
        <p:spPr>
          <a:xfrm>
            <a:off x="274320" y="1783080"/>
            <a:ext cx="22399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↓ </a:t>
            </a: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38%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9"/>
          <p:cNvSpPr/>
          <p:nvPr/>
        </p:nvSpPr>
        <p:spPr>
          <a:xfrm>
            <a:off x="274320" y="2423160"/>
            <a:ext cx="223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Несчастных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случаев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ectangle 10"/>
          <p:cNvSpPr/>
          <p:nvPr/>
        </p:nvSpPr>
        <p:spPr>
          <a:xfrm>
            <a:off x="2615040" y="1691640"/>
            <a:ext cx="2239920" cy="123408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11"/>
          <p:cNvSpPr/>
          <p:nvPr/>
        </p:nvSpPr>
        <p:spPr>
          <a:xfrm>
            <a:off x="2615040" y="1783080"/>
            <a:ext cx="22399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↓ </a:t>
            </a: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40%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12"/>
          <p:cNvSpPr/>
          <p:nvPr/>
        </p:nvSpPr>
        <p:spPr>
          <a:xfrm>
            <a:off x="2615040" y="2423160"/>
            <a:ext cx="223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Микро-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травм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tangle 13"/>
          <p:cNvSpPr/>
          <p:nvPr/>
        </p:nvSpPr>
        <p:spPr>
          <a:xfrm>
            <a:off x="4956120" y="1691640"/>
            <a:ext cx="2239920" cy="123408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14"/>
          <p:cNvSpPr/>
          <p:nvPr/>
        </p:nvSpPr>
        <p:spPr>
          <a:xfrm>
            <a:off x="4956120" y="1783080"/>
            <a:ext cx="22399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↓ </a:t>
            </a: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50%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15"/>
          <p:cNvSpPr/>
          <p:nvPr/>
        </p:nvSpPr>
        <p:spPr>
          <a:xfrm>
            <a:off x="4956120" y="2423160"/>
            <a:ext cx="223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Опасных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ситуаций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ectangle 16"/>
          <p:cNvSpPr/>
          <p:nvPr/>
        </p:nvSpPr>
        <p:spPr>
          <a:xfrm>
            <a:off x="7296840" y="1691640"/>
            <a:ext cx="2239920" cy="123408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17"/>
          <p:cNvSpPr/>
          <p:nvPr/>
        </p:nvSpPr>
        <p:spPr>
          <a:xfrm>
            <a:off x="7296840" y="1783080"/>
            <a:ext cx="22399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↓ </a:t>
            </a: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83%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18"/>
          <p:cNvSpPr/>
          <p:nvPr/>
        </p:nvSpPr>
        <p:spPr>
          <a:xfrm>
            <a:off x="7296840" y="2423160"/>
            <a:ext cx="223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Время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реагирования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tangle 19"/>
          <p:cNvSpPr/>
          <p:nvPr/>
        </p:nvSpPr>
        <p:spPr>
          <a:xfrm>
            <a:off x="9637920" y="1691640"/>
            <a:ext cx="2239920" cy="123408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20"/>
          <p:cNvSpPr/>
          <p:nvPr/>
        </p:nvSpPr>
        <p:spPr>
          <a:xfrm>
            <a:off x="9637920" y="1783080"/>
            <a:ext cx="22399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↑ </a:t>
            </a: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70%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21"/>
          <p:cNvSpPr/>
          <p:nvPr/>
        </p:nvSpPr>
        <p:spPr>
          <a:xfrm>
            <a:off x="9637920" y="2423160"/>
            <a:ext cx="223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Охват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bad4f8"/>
                </a:solidFill>
                <a:latin typeface="Calibri"/>
              </a:rPr>
              <a:t>предиктивом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ctangle 22"/>
          <p:cNvSpPr/>
          <p:nvPr/>
        </p:nvSpPr>
        <p:spPr>
          <a:xfrm>
            <a:off x="274320" y="3063240"/>
            <a:ext cx="11612520" cy="36540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23"/>
          <p:cNvSpPr/>
          <p:nvPr/>
        </p:nvSpPr>
        <p:spPr>
          <a:xfrm>
            <a:off x="274320" y="306324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В ДЕНЬГАХ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 24"/>
          <p:cNvSpPr/>
          <p:nvPr/>
        </p:nvSpPr>
        <p:spPr>
          <a:xfrm>
            <a:off x="274320" y="3474720"/>
            <a:ext cx="11612520" cy="456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TextBox 25"/>
          <p:cNvSpPr/>
          <p:nvPr/>
        </p:nvSpPr>
        <p:spPr>
          <a:xfrm>
            <a:off x="457200" y="3547800"/>
            <a:ext cx="8686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Прямые затраты на НС  (7 × 5 млн ₸)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26"/>
          <p:cNvSpPr/>
          <p:nvPr/>
        </p:nvSpPr>
        <p:spPr>
          <a:xfrm>
            <a:off x="9144000" y="354780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≈ </a:t>
            </a: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35 000 000 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27"/>
          <p:cNvSpPr/>
          <p:nvPr/>
        </p:nvSpPr>
        <p:spPr>
          <a:xfrm>
            <a:off x="274320" y="3950280"/>
            <a:ext cx="11612520" cy="4568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28"/>
          <p:cNvSpPr/>
          <p:nvPr/>
        </p:nvSpPr>
        <p:spPr>
          <a:xfrm>
            <a:off x="457200" y="4023360"/>
            <a:ext cx="8686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Косвенные потери  (простой, репутация)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29"/>
          <p:cNvSpPr/>
          <p:nvPr/>
        </p:nvSpPr>
        <p:spPr>
          <a:xfrm>
            <a:off x="9144000" y="402336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≈ </a:t>
            </a: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70 000 000 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30"/>
          <p:cNvSpPr/>
          <p:nvPr/>
        </p:nvSpPr>
        <p:spPr>
          <a:xfrm>
            <a:off x="274320" y="4425840"/>
            <a:ext cx="11612520" cy="456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31"/>
          <p:cNvSpPr/>
          <p:nvPr/>
        </p:nvSpPr>
        <p:spPr>
          <a:xfrm>
            <a:off x="457200" y="4498920"/>
            <a:ext cx="8686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Штрафы и предписания  (−30%)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32"/>
          <p:cNvSpPr/>
          <p:nvPr/>
        </p:nvSpPr>
        <p:spPr>
          <a:xfrm>
            <a:off x="9144000" y="449892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≈  </a:t>
            </a: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5 000 000 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ectangle 33"/>
          <p:cNvSpPr/>
          <p:nvPr/>
        </p:nvSpPr>
        <p:spPr>
          <a:xfrm>
            <a:off x="274320" y="4901040"/>
            <a:ext cx="11612520" cy="4568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TextBox 34"/>
          <p:cNvSpPr/>
          <p:nvPr/>
        </p:nvSpPr>
        <p:spPr>
          <a:xfrm>
            <a:off x="457200" y="4974480"/>
            <a:ext cx="8686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Расследования и отчётность  (−70%)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35"/>
          <p:cNvSpPr/>
          <p:nvPr/>
        </p:nvSpPr>
        <p:spPr>
          <a:xfrm>
            <a:off x="9144000" y="497448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≈  </a:t>
            </a: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8 000 000 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ectangle 36"/>
          <p:cNvSpPr/>
          <p:nvPr/>
        </p:nvSpPr>
        <p:spPr>
          <a:xfrm>
            <a:off x="274320" y="5376600"/>
            <a:ext cx="11612520" cy="456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TextBox 37"/>
          <p:cNvSpPr/>
          <p:nvPr/>
        </p:nvSpPr>
        <p:spPr>
          <a:xfrm>
            <a:off x="457200" y="5449680"/>
            <a:ext cx="8686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ROI автоматизации аудитов  (+40%)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38"/>
          <p:cNvSpPr/>
          <p:nvPr/>
        </p:nvSpPr>
        <p:spPr>
          <a:xfrm>
            <a:off x="9144000" y="544968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≈  </a:t>
            </a:r>
            <a:r>
              <a:rPr b="1" lang="en-US" sz="1300" spc="-1" strike="noStrike">
                <a:solidFill>
                  <a:srgbClr val="1e3a8a"/>
                </a:solidFill>
                <a:latin typeface="Calibri"/>
              </a:rPr>
              <a:t>3 000 000 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Rectangle 39"/>
          <p:cNvSpPr/>
          <p:nvPr/>
        </p:nvSpPr>
        <p:spPr>
          <a:xfrm>
            <a:off x="274320" y="5897880"/>
            <a:ext cx="11612520" cy="63972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TextBox 40"/>
          <p:cNvSpPr/>
          <p:nvPr/>
        </p:nvSpPr>
        <p:spPr>
          <a:xfrm>
            <a:off x="274320" y="5897880"/>
            <a:ext cx="116125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ИТОГО:   ≈ 121 000 000 ₸  (~250 000 USD)  в год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41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42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7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" name="Rectangle 2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TextBox 3"/>
          <p:cNvSpPr/>
          <p:nvPr/>
        </p:nvSpPr>
        <p:spPr>
          <a:xfrm>
            <a:off x="365760" y="13716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хакатона — как мы их закрываем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4"/>
          <p:cNvSpPr/>
          <p:nvPr/>
        </p:nvSpPr>
        <p:spPr>
          <a:xfrm>
            <a:off x="365760" y="7498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Раздел 6 ТЗ: 6 критериев оценки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5"/>
          <p:cNvSpPr/>
          <p:nvPr/>
        </p:nvSpPr>
        <p:spPr>
          <a:xfrm>
            <a:off x="274320" y="1371600"/>
            <a:ext cx="3657240" cy="2377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Rectangle 6"/>
          <p:cNvSpPr/>
          <p:nvPr/>
        </p:nvSpPr>
        <p:spPr>
          <a:xfrm>
            <a:off x="274320" y="1371600"/>
            <a:ext cx="3657240" cy="45684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" name="TextBox 7"/>
          <p:cNvSpPr/>
          <p:nvPr/>
        </p:nvSpPr>
        <p:spPr>
          <a:xfrm>
            <a:off x="365760" y="1417320"/>
            <a:ext cx="731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8"/>
          <p:cNvSpPr/>
          <p:nvPr/>
        </p:nvSpPr>
        <p:spPr>
          <a:xfrm>
            <a:off x="1188720" y="144468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Точность предиктива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9"/>
          <p:cNvSpPr/>
          <p:nvPr/>
        </p:nvSpPr>
        <p:spPr>
          <a:xfrm>
            <a:off x="411480" y="1920240"/>
            <a:ext cx="3382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Prophet + 95% CI · backtesting на истории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Прогноз 12/6/3 мес · годовая сезонность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tangle 10"/>
          <p:cNvSpPr/>
          <p:nvPr/>
        </p:nvSpPr>
        <p:spPr>
          <a:xfrm>
            <a:off x="4206240" y="1371600"/>
            <a:ext cx="3657240" cy="2377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Rectangle 11"/>
          <p:cNvSpPr/>
          <p:nvPr/>
        </p:nvSpPr>
        <p:spPr>
          <a:xfrm>
            <a:off x="4206240" y="1371600"/>
            <a:ext cx="3657240" cy="456840"/>
          </a:xfrm>
          <a:prstGeom prst="rect">
            <a:avLst/>
          </a:prstGeom>
          <a:solidFill>
            <a:srgbClr val="2d6a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12"/>
          <p:cNvSpPr/>
          <p:nvPr/>
        </p:nvSpPr>
        <p:spPr>
          <a:xfrm>
            <a:off x="4297680" y="1417320"/>
            <a:ext cx="731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20%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13"/>
          <p:cNvSpPr/>
          <p:nvPr/>
        </p:nvSpPr>
        <p:spPr>
          <a:xfrm>
            <a:off x="5120640" y="144468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Качество рекомендаций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14"/>
          <p:cNvSpPr/>
          <p:nvPr/>
        </p:nvSpPr>
        <p:spPr>
          <a:xfrm>
            <a:off x="4343400" y="1920240"/>
            <a:ext cx="3382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Gemini топ-5 с приоритетом и обоснованием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На основе реальных паттернов (орг, тип, причины)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ectangle 15"/>
          <p:cNvSpPr/>
          <p:nvPr/>
        </p:nvSpPr>
        <p:spPr>
          <a:xfrm>
            <a:off x="8138160" y="1371600"/>
            <a:ext cx="3657240" cy="2377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Rectangle 16"/>
          <p:cNvSpPr/>
          <p:nvPr/>
        </p:nvSpPr>
        <p:spPr>
          <a:xfrm>
            <a:off x="8138160" y="1371600"/>
            <a:ext cx="3657240" cy="45684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TextBox 17"/>
          <p:cNvSpPr/>
          <p:nvPr/>
        </p:nvSpPr>
        <p:spPr>
          <a:xfrm>
            <a:off x="8229600" y="1417320"/>
            <a:ext cx="731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18"/>
          <p:cNvSpPr/>
          <p:nvPr/>
        </p:nvSpPr>
        <p:spPr>
          <a:xfrm>
            <a:off x="9052560" y="144468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UX дашборда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19"/>
          <p:cNvSpPr/>
          <p:nvPr/>
        </p:nvSpPr>
        <p:spPr>
          <a:xfrm>
            <a:off x="8275320" y="1920240"/>
            <a:ext cx="3382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Streamlit 4 таба · 10+ Plotly-графиков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Parallel loading · KPI-карточки · фильтры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ectangle 20"/>
          <p:cNvSpPr/>
          <p:nvPr/>
        </p:nvSpPr>
        <p:spPr>
          <a:xfrm>
            <a:off x="274320" y="3977640"/>
            <a:ext cx="3657240" cy="2377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ectangle 21"/>
          <p:cNvSpPr/>
          <p:nvPr/>
        </p:nvSpPr>
        <p:spPr>
          <a:xfrm>
            <a:off x="274320" y="3977640"/>
            <a:ext cx="3657240" cy="45684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22"/>
          <p:cNvSpPr/>
          <p:nvPr/>
        </p:nvSpPr>
        <p:spPr>
          <a:xfrm>
            <a:off x="365760" y="4023360"/>
            <a:ext cx="731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23"/>
          <p:cNvSpPr/>
          <p:nvPr/>
        </p:nvSpPr>
        <p:spPr>
          <a:xfrm>
            <a:off x="1188720" y="405072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Система алертов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24"/>
          <p:cNvSpPr/>
          <p:nvPr/>
        </p:nvSpPr>
        <p:spPr>
          <a:xfrm>
            <a:off x="411480" y="4526280"/>
            <a:ext cx="3382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4 уровня: CRITICAL (x2) · HIGH (&gt;3 раз/тип)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MEDIUM (YoY &gt;15%) · LOW (информация)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ectangle 25"/>
          <p:cNvSpPr/>
          <p:nvPr/>
        </p:nvSpPr>
        <p:spPr>
          <a:xfrm>
            <a:off x="4206240" y="3977640"/>
            <a:ext cx="3657240" cy="2377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ectangle 26"/>
          <p:cNvSpPr/>
          <p:nvPr/>
        </p:nvSpPr>
        <p:spPr>
          <a:xfrm>
            <a:off x="4206240" y="3977640"/>
            <a:ext cx="3657240" cy="45684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TextBox 27"/>
          <p:cNvSpPr/>
          <p:nvPr/>
        </p:nvSpPr>
        <p:spPr>
          <a:xfrm>
            <a:off x="4297680" y="4023360"/>
            <a:ext cx="731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28"/>
          <p:cNvSpPr/>
          <p:nvPr/>
        </p:nvSpPr>
        <p:spPr>
          <a:xfrm>
            <a:off x="5120640" y="405072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Интеграция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29"/>
          <p:cNvSpPr/>
          <p:nvPr/>
        </p:nvSpPr>
        <p:spPr>
          <a:xfrm>
            <a:off x="4343400" y="4526280"/>
            <a:ext cx="3382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FastAPI · 17 REST эндпоинтов · OpenAPI /docs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Docker Compose · JSON · CORS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ectangle 30"/>
          <p:cNvSpPr/>
          <p:nvPr/>
        </p:nvSpPr>
        <p:spPr>
          <a:xfrm>
            <a:off x="8138160" y="3977640"/>
            <a:ext cx="3657240" cy="2377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Rectangle 31"/>
          <p:cNvSpPr/>
          <p:nvPr/>
        </p:nvSpPr>
        <p:spPr>
          <a:xfrm>
            <a:off x="8138160" y="3977640"/>
            <a:ext cx="3657240" cy="45684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32"/>
          <p:cNvSpPr/>
          <p:nvPr/>
        </p:nvSpPr>
        <p:spPr>
          <a:xfrm>
            <a:off x="8229600" y="4023360"/>
            <a:ext cx="731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33"/>
          <p:cNvSpPr/>
          <p:nvPr/>
        </p:nvSpPr>
        <p:spPr>
          <a:xfrm>
            <a:off x="9052560" y="4050720"/>
            <a:ext cx="2559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Экономический эффект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34"/>
          <p:cNvSpPr/>
          <p:nvPr/>
        </p:nvSpPr>
        <p:spPr>
          <a:xfrm>
            <a:off x="8275320" y="4526280"/>
            <a:ext cx="3382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Сценарное моделирование: 9 мер контроля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Pearson r=0.415 · ~121 млн ₸/год экономии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35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36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8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Rectangle 2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3"/>
          <p:cNvSpPr/>
          <p:nvPr/>
        </p:nvSpPr>
        <p:spPr>
          <a:xfrm>
            <a:off x="365760" y="13716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Мок-данные → Продакшн: что меняется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4"/>
          <p:cNvSpPr/>
          <p:nvPr/>
        </p:nvSpPr>
        <p:spPr>
          <a:xfrm>
            <a:off x="365760" y="749880"/>
            <a:ext cx="914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Хакатон = proof of concept. Продакшн = другой уровень валидации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ectangle 5"/>
          <p:cNvSpPr/>
          <p:nvPr/>
        </p:nvSpPr>
        <p:spPr>
          <a:xfrm>
            <a:off x="274320" y="1325880"/>
            <a:ext cx="11639880" cy="776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Rectangle 6"/>
          <p:cNvSpPr/>
          <p:nvPr/>
        </p:nvSpPr>
        <p:spPr>
          <a:xfrm>
            <a:off x="274320" y="1325880"/>
            <a:ext cx="72720" cy="7768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457200" y="139896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220 инцидентов, &lt;36 месяцев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8"/>
          <p:cNvSpPr/>
          <p:nvPr/>
        </p:nvSpPr>
        <p:spPr>
          <a:xfrm>
            <a:off x="5577840" y="1508760"/>
            <a:ext cx="2739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2c55e"/>
                </a:solidFill>
                <a:latin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5943600" y="1398960"/>
            <a:ext cx="576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1000+ инцидентов, 5+ лет истории → Prophet с годовой + недельной сезонностью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ectangle 10"/>
          <p:cNvSpPr/>
          <p:nvPr/>
        </p:nvSpPr>
        <p:spPr>
          <a:xfrm>
            <a:off x="274320" y="2194560"/>
            <a:ext cx="11639880" cy="776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Rectangle 11"/>
          <p:cNvSpPr/>
          <p:nvPr/>
        </p:nvSpPr>
        <p:spPr>
          <a:xfrm>
            <a:off x="274320" y="2194560"/>
            <a:ext cx="72720" cy="7768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TextBox 12"/>
          <p:cNvSpPr/>
          <p:nvPr/>
        </p:nvSpPr>
        <p:spPr>
          <a:xfrm>
            <a:off x="457200" y="226764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In-sample backtesting (MAE на train)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5577840" y="2377440"/>
            <a:ext cx="2739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2c55e"/>
                </a:solidFill>
                <a:latin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5943600" y="2267640"/>
            <a:ext cx="576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Walk-forward CV: train 80% → predict 20% → реальный MAE/RMSE/MAPE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274320" y="3063240"/>
            <a:ext cx="11639880" cy="776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" name="Rectangle 16"/>
          <p:cNvSpPr/>
          <p:nvPr/>
        </p:nvSpPr>
        <p:spPr>
          <a:xfrm>
            <a:off x="274320" y="3063240"/>
            <a:ext cx="72720" cy="7768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457200" y="313632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k=6 кластеров (хардкод)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18"/>
          <p:cNvSpPr/>
          <p:nvPr/>
        </p:nvSpPr>
        <p:spPr>
          <a:xfrm>
            <a:off x="5577840" y="3246120"/>
            <a:ext cx="2739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2c55e"/>
                </a:solidFill>
                <a:latin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19"/>
          <p:cNvSpPr/>
          <p:nvPr/>
        </p:nvSpPr>
        <p:spPr>
          <a:xfrm>
            <a:off x="5943600" y="3136320"/>
            <a:ext cx="576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Elbow method + Silhouette sweep (k=2..15) → автовыбор оптимального 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ectangle 20"/>
          <p:cNvSpPr/>
          <p:nvPr/>
        </p:nvSpPr>
        <p:spPr>
          <a:xfrm>
            <a:off x="274320" y="3931920"/>
            <a:ext cx="11639880" cy="776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Rectangle 21"/>
          <p:cNvSpPr/>
          <p:nvPr/>
        </p:nvSpPr>
        <p:spPr>
          <a:xfrm>
            <a:off x="274320" y="3931920"/>
            <a:ext cx="72720" cy="7768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" name="TextBox 22"/>
          <p:cNvSpPr/>
          <p:nvPr/>
        </p:nvSpPr>
        <p:spPr>
          <a:xfrm>
            <a:off x="457200" y="400500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Risk Score: экспертные веса 0.35/0.30/0.20/0.15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23"/>
          <p:cNvSpPr/>
          <p:nvPr/>
        </p:nvSpPr>
        <p:spPr>
          <a:xfrm>
            <a:off x="5577840" y="4114800"/>
            <a:ext cx="2739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2c55e"/>
                </a:solidFill>
                <a:latin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4"/>
          <p:cNvSpPr/>
          <p:nvPr/>
        </p:nvSpPr>
        <p:spPr>
          <a:xfrm>
            <a:off x="5943600" y="4005000"/>
            <a:ext cx="576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Logistic Regression / XGBoost обучен на экспертной разметке → SHAP feature importance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ectangle 25"/>
          <p:cNvSpPr/>
          <p:nvPr/>
        </p:nvSpPr>
        <p:spPr>
          <a:xfrm>
            <a:off x="274320" y="4800600"/>
            <a:ext cx="11639880" cy="776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Rectangle 26"/>
          <p:cNvSpPr/>
          <p:nvPr/>
        </p:nvSpPr>
        <p:spPr>
          <a:xfrm>
            <a:off x="274320" y="4800600"/>
            <a:ext cx="72720" cy="7768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TextBox 27"/>
          <p:cNvSpPr/>
          <p:nvPr/>
        </p:nvSpPr>
        <p:spPr>
          <a:xfrm>
            <a:off x="457200" y="487368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Gemini без валидации (zero-shot)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28"/>
          <p:cNvSpPr/>
          <p:nvPr/>
        </p:nvSpPr>
        <p:spPr>
          <a:xfrm>
            <a:off x="5577840" y="4983480"/>
            <a:ext cx="2739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2c55e"/>
                </a:solidFill>
                <a:latin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29"/>
          <p:cNvSpPr/>
          <p:nvPr/>
        </p:nvSpPr>
        <p:spPr>
          <a:xfrm>
            <a:off x="5943600" y="4873680"/>
            <a:ext cx="576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Тест на 100+ размеченных примерах: Precision/Recall/F1 &gt; 0.85 для каждого типа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ectangle 30"/>
          <p:cNvSpPr/>
          <p:nvPr/>
        </p:nvSpPr>
        <p:spPr>
          <a:xfrm>
            <a:off x="274320" y="5669280"/>
            <a:ext cx="11639880" cy="776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Rectangle 31"/>
          <p:cNvSpPr/>
          <p:nvPr/>
        </p:nvSpPr>
        <p:spPr>
          <a:xfrm>
            <a:off x="274320" y="5669280"/>
            <a:ext cx="72720" cy="7768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TextBox 32"/>
          <p:cNvSpPr/>
          <p:nvPr/>
        </p:nvSpPr>
        <p:spPr>
          <a:xfrm>
            <a:off x="457200" y="574236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Pearson r=0.415 как causal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33"/>
          <p:cNvSpPr/>
          <p:nvPr/>
        </p:nvSpPr>
        <p:spPr>
          <a:xfrm>
            <a:off x="5577840" y="5852160"/>
            <a:ext cx="2739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22c55e"/>
                </a:solidFill>
                <a:latin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5943600" y="5742360"/>
            <a:ext cx="576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Partial correlation (контроль на размер орг) + Granger causality test + time-lag анализ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36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9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Rectangle 2"/>
          <p:cNvSpPr/>
          <p:nvPr/>
        </p:nvSpPr>
        <p:spPr>
          <a:xfrm>
            <a:off x="0" y="5120640"/>
            <a:ext cx="12188520" cy="17370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Rectangle 3"/>
          <p:cNvSpPr/>
          <p:nvPr/>
        </p:nvSpPr>
        <p:spPr>
          <a:xfrm>
            <a:off x="0" y="5029200"/>
            <a:ext cx="12188520" cy="543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4"/>
          <p:cNvSpPr/>
          <p:nvPr/>
        </p:nvSpPr>
        <p:spPr>
          <a:xfrm>
            <a:off x="457200" y="457200"/>
            <a:ext cx="1096920" cy="9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5600" spc="-1" strike="noStrike">
                <a:solidFill>
                  <a:srgbClr val="ffffff"/>
                </a:solidFill>
                <a:latin typeface="Calibri"/>
              </a:rPr>
              <a:t>🛡️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5"/>
          <p:cNvSpPr/>
          <p:nvPr/>
        </p:nvSpPr>
        <p:spPr>
          <a:xfrm>
            <a:off x="1645920" y="457200"/>
            <a:ext cx="914364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600" spc="-1" strike="noStrike">
                <a:solidFill>
                  <a:srgbClr val="ffffff"/>
                </a:solidFill>
                <a:latin typeface="Calibri"/>
              </a:rPr>
              <a:t>Результат</a:t>
            </a:r>
            <a:endParaRPr b="0" lang="en-US" sz="4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6"/>
          <p:cNvSpPr/>
          <p:nvPr/>
        </p:nvSpPr>
        <p:spPr>
          <a:xfrm>
            <a:off x="1645920" y="1371600"/>
            <a:ext cx="10058040" cy="259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Рабочий AI-дашборд  —  аналитика прошлых инцидентов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Предикт на 12 месяцев  —  Prophet + 95% CI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Сценарный анализ  —  расчёт эффекта мер контроля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4-уровневые алерты  —  CRITICAL → LOW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Топ-5 AI-рекомендаций  —  Gemini 2.0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CV-анализ фото  —  Gemini Vision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PDF-отчёт  —  4 страницы, кириллица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Экономика  —  121 млн ₸ / год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7"/>
          <p:cNvSpPr/>
          <p:nvPr/>
        </p:nvSpPr>
        <p:spPr>
          <a:xfrm>
            <a:off x="457200" y="530352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ad4f8"/>
                </a:solidFill>
                <a:latin typeface="Calibri"/>
              </a:rPr>
              <a:t>FastAPI :8002  •  Streamlit :8502  •  docker compose up --build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8"/>
          <p:cNvSpPr/>
          <p:nvPr/>
        </p:nvSpPr>
        <p:spPr>
          <a:xfrm>
            <a:off x="457200" y="594360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64748b"/>
                </a:solidFill>
                <a:latin typeface="Calibri"/>
              </a:rPr>
              <a:t>KMG Hackathon 2026  •  github.com/Islambek201632838/kmg-hse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9"/>
          <p:cNvSpPr/>
          <p:nvPr/>
        </p:nvSpPr>
        <p:spPr>
          <a:xfrm>
            <a:off x="274320" y="6492240"/>
            <a:ext cx="4571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http://89.207.255.254:8502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10"/>
          <p:cNvSpPr/>
          <p:nvPr/>
        </p:nvSpPr>
        <p:spPr>
          <a:xfrm>
            <a:off x="10972800" y="649224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10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2026-03-28T16:54:00Z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