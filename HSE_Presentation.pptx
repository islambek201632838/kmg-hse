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C79708-C3E9-4DD2-8E2C-33C2F04CA0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A66A4C-7613-4E0A-AF85-003A4C8068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100A75E-1085-4116-9FC4-8706E8DBD3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919BFD3-F820-4561-9002-5A5A73EBB4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84D358B-D2D9-43BE-89DD-A1B5AD7D43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31FC495-318D-497B-B7B8-4E8596DBB4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E481CB5-D479-49C2-A877-0E70EE628C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4F409C7-A8E2-4E9F-89CA-358BE2A433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5E61236-A34E-4C82-8277-5F9FE283D8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E878271-AF1D-4F45-B10D-76CEE9164A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9B5E494-2B8B-4510-905B-2D86D62773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FF75C8-E63F-4049-8A19-422677B26D8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EE32FE-F706-4A6D-8CD0-7F6171D650F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739FA2-1FCB-4539-9B1C-C2BA7E8A059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6F97CF-3210-4E6D-96B3-BD1D1A5D30A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00BA06-4CA0-40AE-A37F-42C8CB7F9C0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281FA3-0A0E-450F-8646-3F519755999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403C81-1CC0-42D2-8140-42A69867D09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EFA2D1-65A1-428F-B29A-EC55E06A07A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F773E5-8963-4C3C-81AD-7C7458B0518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8E839C-8D16-4F46-99BE-B8E90657382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4A6BC8-84EA-44FC-9F98-A0EB16743A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5029200"/>
            <a:ext cx="12188520" cy="18284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0" y="4846320"/>
            <a:ext cx="12188520" cy="543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457200" y="548640"/>
            <a:ext cx="13712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400" spc="-1" strike="noStrike">
                <a:solidFill>
                  <a:srgbClr val="ffffff"/>
                </a:solidFill>
                <a:latin typeface="Calibri"/>
              </a:rPr>
              <a:t>🛡️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1828800" y="457200"/>
            <a:ext cx="9143640" cy="8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</a:rPr>
              <a:t>HSE AI Analytics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1828800" y="1600200"/>
            <a:ext cx="9143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bad4f8"/>
                </a:solidFill>
                <a:latin typeface="Calibri"/>
              </a:rPr>
              <a:t>AI-аналитика охраны труда и промышленной безопасности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ectangle 7"/>
          <p:cNvSpPr/>
          <p:nvPr/>
        </p:nvSpPr>
        <p:spPr>
          <a:xfrm>
            <a:off x="1828800" y="2286000"/>
            <a:ext cx="3657240" cy="45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1828800" y="2468880"/>
            <a:ext cx="5486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59e0b"/>
                </a:solidFill>
                <a:latin typeface="Calibri"/>
              </a:rPr>
              <a:t>KMG Hackathon 2026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457200" y="530352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4a3b8"/>
                </a:solidFill>
                <a:latin typeface="Calibri"/>
              </a:rPr>
              <a:t>Предиктивный инструмент управления безопасностью с измеримым экономическим эффектом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457200" y="5852160"/>
            <a:ext cx="10972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</a:rPr>
              <a:t>FastAPI  •  Prophet  •  Gemini 2.0 Flash  •  Streamlit  •  Docker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Rectangle 2"/>
          <p:cNvSpPr/>
          <p:nvPr/>
        </p:nvSpPr>
        <p:spPr>
          <a:xfrm>
            <a:off x="0" y="0"/>
            <a:ext cx="12188520" cy="118836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365760" y="13716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Проблема: реактивный подход к безопасности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365760" y="749880"/>
            <a:ext cx="9143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ad4f8"/>
                </a:solidFill>
                <a:latin typeface="Calibri"/>
              </a:rPr>
              <a:t>Текущее состояние охраны труда в нефтегазовой отрасли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5"/>
          <p:cNvSpPr/>
          <p:nvPr/>
        </p:nvSpPr>
        <p:spPr>
          <a:xfrm>
            <a:off x="457200" y="1463040"/>
            <a:ext cx="3474360" cy="146268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457200" y="1554480"/>
            <a:ext cx="34743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18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НС/год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457200" y="2194560"/>
            <a:ext cx="3474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Несчастных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случаев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angle 8"/>
          <p:cNvSpPr/>
          <p:nvPr/>
        </p:nvSpPr>
        <p:spPr>
          <a:xfrm>
            <a:off x="4297680" y="1463040"/>
            <a:ext cx="3474360" cy="146268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9"/>
          <p:cNvSpPr/>
          <p:nvPr/>
        </p:nvSpPr>
        <p:spPr>
          <a:xfrm>
            <a:off x="4297680" y="1554480"/>
            <a:ext cx="34743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120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микротравм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4297680" y="2194560"/>
            <a:ext cx="3474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Ежегодно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ectangle 11"/>
          <p:cNvSpPr/>
          <p:nvPr/>
        </p:nvSpPr>
        <p:spPr>
          <a:xfrm>
            <a:off x="8138160" y="1463040"/>
            <a:ext cx="3474360" cy="1462680"/>
          </a:xfrm>
          <a:prstGeom prst="rect">
            <a:avLst/>
          </a:prstGeom>
          <a:solidFill>
            <a:srgbClr val="2d6a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12"/>
          <p:cNvSpPr/>
          <p:nvPr/>
        </p:nvSpPr>
        <p:spPr>
          <a:xfrm>
            <a:off x="8138160" y="1554480"/>
            <a:ext cx="34743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72 часа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13"/>
          <p:cNvSpPr/>
          <p:nvPr/>
        </p:nvSpPr>
        <p:spPr>
          <a:xfrm>
            <a:off x="8138160" y="2194560"/>
            <a:ext cx="3474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Среднее время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реагирования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 14"/>
          <p:cNvSpPr/>
          <p:nvPr/>
        </p:nvSpPr>
        <p:spPr>
          <a:xfrm>
            <a:off x="365760" y="3108960"/>
            <a:ext cx="11429640" cy="3291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15"/>
          <p:cNvSpPr/>
          <p:nvPr/>
        </p:nvSpPr>
        <p:spPr>
          <a:xfrm>
            <a:off x="640080" y="3246120"/>
            <a:ext cx="10972440" cy="17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e3a8a"/>
                </a:solidFill>
                <a:latin typeface="Calibri"/>
              </a:rPr>
              <a:t>Ключевые проблемы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❌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Нет предиктивной аналитики — инциденты расследуются постфактум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❌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Данные Карт Коргау и происшествий не связаны между собой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❌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Ручной анализ сотен наблюдений занимает дни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❌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Экономический эффект мер безопасности не рассчитывается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❌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350 опасных ситуаций в год остаются без превентивных мер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ectangle 16"/>
          <p:cNvSpPr/>
          <p:nvPr/>
        </p:nvSpPr>
        <p:spPr>
          <a:xfrm>
            <a:off x="365760" y="6217920"/>
            <a:ext cx="11429640" cy="41112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17"/>
          <p:cNvSpPr/>
          <p:nvPr/>
        </p:nvSpPr>
        <p:spPr>
          <a:xfrm>
            <a:off x="365760" y="6217920"/>
            <a:ext cx="114296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Потери: ~200 млн ₸/год  |  Цена бездействия растёт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Rectangle 2"/>
          <p:cNvSpPr/>
          <p:nvPr/>
        </p:nvSpPr>
        <p:spPr>
          <a:xfrm>
            <a:off x="0" y="0"/>
            <a:ext cx="12188520" cy="118836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365760" y="13716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Решение: HSE AI Analytics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365760" y="749880"/>
            <a:ext cx="9143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ad4f8"/>
                </a:solidFill>
                <a:latin typeface="Calibri"/>
              </a:rPr>
              <a:t>AI-аналитический слой поверх двух модулей HSE-системы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 5"/>
          <p:cNvSpPr/>
          <p:nvPr/>
        </p:nvSpPr>
        <p:spPr>
          <a:xfrm>
            <a:off x="274320" y="1325880"/>
            <a:ext cx="5760360" cy="438876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6"/>
          <p:cNvSpPr/>
          <p:nvPr/>
        </p:nvSpPr>
        <p:spPr>
          <a:xfrm>
            <a:off x="411480" y="1371600"/>
            <a:ext cx="5486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Компонент A — Инциденты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ectangle 7"/>
          <p:cNvSpPr/>
          <p:nvPr/>
        </p:nvSpPr>
        <p:spPr>
          <a:xfrm>
            <a:off x="274320" y="1920240"/>
            <a:ext cx="5760360" cy="27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8"/>
          <p:cNvSpPr/>
          <p:nvPr/>
        </p:nvSpPr>
        <p:spPr>
          <a:xfrm>
            <a:off x="411480" y="2011680"/>
            <a:ext cx="5486040" cy="19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NLP-классификация описаний (Gemini)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Паттерны по типу, орг., локации, смене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Кластеризация причин (TF-IDF + KMeans)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Топ-5 рекомендаций от AI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Prophet-прогноз + сценарный анализ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CV-анализ фото (Gemini Vision)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ectangle 9"/>
          <p:cNvSpPr/>
          <p:nvPr/>
        </p:nvSpPr>
        <p:spPr>
          <a:xfrm>
            <a:off x="6309360" y="1325880"/>
            <a:ext cx="5760360" cy="4388760"/>
          </a:xfrm>
          <a:prstGeom prst="rect">
            <a:avLst/>
          </a:prstGeom>
          <a:solidFill>
            <a:srgbClr val="2d6a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6446520" y="1371600"/>
            <a:ext cx="5486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Компонент B — Карты Коргау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ectangle 11"/>
          <p:cNvSpPr/>
          <p:nvPr/>
        </p:nvSpPr>
        <p:spPr>
          <a:xfrm>
            <a:off x="6309360" y="1920240"/>
            <a:ext cx="5760360" cy="27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12"/>
          <p:cNvSpPr/>
          <p:nvPr/>
        </p:nvSpPr>
        <p:spPr>
          <a:xfrm>
            <a:off x="6446520" y="2011680"/>
            <a:ext cx="5486040" cy="19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Паттерны нарушений по орг./категориям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4-уровневая система алертов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Рейтинг организаций по compliance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Корреляция нарушений с инцидентами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Pre-alert при росте нарушений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AI-кластеризация наблюдений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13"/>
          <p:cNvSpPr/>
          <p:nvPr/>
        </p:nvSpPr>
        <p:spPr>
          <a:xfrm>
            <a:off x="5623560" y="3200400"/>
            <a:ext cx="914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1e3a8a"/>
                </a:solidFill>
                <a:latin typeface="Calibri"/>
              </a:rPr>
              <a:t>+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 14"/>
          <p:cNvSpPr/>
          <p:nvPr/>
        </p:nvSpPr>
        <p:spPr>
          <a:xfrm>
            <a:off x="274320" y="5806440"/>
            <a:ext cx="11612520" cy="8226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15"/>
          <p:cNvSpPr/>
          <p:nvPr/>
        </p:nvSpPr>
        <p:spPr>
          <a:xfrm>
            <a:off x="274320" y="5806440"/>
            <a:ext cx="116125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15 REST-эндпоинтов  •  Streamlit-дашборд  •  PDF-отчёт  •  Сценарный анализ  •  Docker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Rectangle 2"/>
          <p:cNvSpPr/>
          <p:nvPr/>
        </p:nvSpPr>
        <p:spPr>
          <a:xfrm>
            <a:off x="0" y="0"/>
            <a:ext cx="12188520" cy="118836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365760" y="13716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Трёхуровневая архитектура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4"/>
          <p:cNvSpPr/>
          <p:nvPr/>
        </p:nvSpPr>
        <p:spPr>
          <a:xfrm>
            <a:off x="365760" y="749880"/>
            <a:ext cx="9143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ad4f8"/>
                </a:solidFill>
                <a:latin typeface="Calibri"/>
              </a:rPr>
              <a:t>ETL → ML/AI Core → Представление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ectangle 5"/>
          <p:cNvSpPr/>
          <p:nvPr/>
        </p:nvSpPr>
        <p:spPr>
          <a:xfrm>
            <a:off x="365760" y="1371600"/>
            <a:ext cx="11429640" cy="159984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6"/>
          <p:cNvSpPr/>
          <p:nvPr/>
        </p:nvSpPr>
        <p:spPr>
          <a:xfrm>
            <a:off x="548640" y="1463040"/>
            <a:ext cx="4114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📂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Уровень данных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7"/>
          <p:cNvSpPr/>
          <p:nvPr/>
        </p:nvSpPr>
        <p:spPr>
          <a:xfrm>
            <a:off x="4754880" y="1444680"/>
            <a:ext cx="685764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data_loader.py  —  ETL Pipeline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incidents.xlsx (220 строк, 50 колонок)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korgau_cards.xlsx (9 917 строк, 16 колонок)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Обогащение: смена, стаж, флаги, resolved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8"/>
          <p:cNvSpPr/>
          <p:nvPr/>
        </p:nvSpPr>
        <p:spPr>
          <a:xfrm>
            <a:off x="5760720" y="2999160"/>
            <a:ext cx="731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3a8a"/>
                </a:solidFill>
                <a:latin typeface="Calibri"/>
              </a:rPr>
              <a:t>▼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 9"/>
          <p:cNvSpPr/>
          <p:nvPr/>
        </p:nvSpPr>
        <p:spPr>
          <a:xfrm>
            <a:off x="365760" y="3108960"/>
            <a:ext cx="11429640" cy="1599840"/>
          </a:xfrm>
          <a:prstGeom prst="rect">
            <a:avLst/>
          </a:prstGeom>
          <a:solidFill>
            <a:srgbClr val="2d6a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548640" y="3200400"/>
            <a:ext cx="4114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🧠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AI / ML Core + NLP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11"/>
          <p:cNvSpPr/>
          <p:nvPr/>
        </p:nvSpPr>
        <p:spPr>
          <a:xfrm>
            <a:off x="4754880" y="3182040"/>
            <a:ext cx="6857640" cy="10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Prophet  —  time-series forecast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TF-IDF + KMeans  —  кластеры причин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Risk Scoring  —  формула из ТЗ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Pearson / Spearman  —  корреляция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Gemini 2.0 Flash  —  NLP + Vision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12"/>
          <p:cNvSpPr/>
          <p:nvPr/>
        </p:nvSpPr>
        <p:spPr>
          <a:xfrm>
            <a:off x="5760720" y="4736520"/>
            <a:ext cx="731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3a8a"/>
                </a:solidFill>
                <a:latin typeface="Calibri"/>
              </a:rPr>
              <a:t>▼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13"/>
          <p:cNvSpPr/>
          <p:nvPr/>
        </p:nvSpPr>
        <p:spPr>
          <a:xfrm>
            <a:off x="365760" y="4846320"/>
            <a:ext cx="11429640" cy="159984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14"/>
          <p:cNvSpPr/>
          <p:nvPr/>
        </p:nvSpPr>
        <p:spPr>
          <a:xfrm>
            <a:off x="548640" y="4937760"/>
            <a:ext cx="4114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🖥️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Представление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15"/>
          <p:cNvSpPr/>
          <p:nvPr/>
        </p:nvSpPr>
        <p:spPr>
          <a:xfrm>
            <a:off x="4754880" y="4919400"/>
            <a:ext cx="685764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Streamlit  —  4 таба, 10 Plotly-графиков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FastAPI  —  15 эндпоинтов, OpenAPI /docs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fpdf2  —  PDF-отчёт 4 страницы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Alert Manager  —  4 уровня CRITICAL→LOW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Rectangle 2"/>
          <p:cNvSpPr/>
          <p:nvPr/>
        </p:nvSpPr>
        <p:spPr>
          <a:xfrm>
            <a:off x="0" y="0"/>
            <a:ext cx="12188520" cy="118836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365760" y="13716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Предиктивная аналитика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365760" y="749880"/>
            <a:ext cx="9143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ad4f8"/>
                </a:solidFill>
                <a:latin typeface="Calibri"/>
              </a:rPr>
              <a:t>Prophet Forecast  •  Risk Scoring  •  Сценарный анализ мер контроля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 5"/>
          <p:cNvSpPr/>
          <p:nvPr/>
        </p:nvSpPr>
        <p:spPr>
          <a:xfrm>
            <a:off x="274320" y="1280160"/>
            <a:ext cx="3748680" cy="5303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6"/>
          <p:cNvSpPr/>
          <p:nvPr/>
        </p:nvSpPr>
        <p:spPr>
          <a:xfrm>
            <a:off x="365760" y="1371600"/>
            <a:ext cx="36572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3a8a"/>
                </a:solidFill>
                <a:latin typeface="Calibri"/>
              </a:rPr>
              <a:t>🔮  </a:t>
            </a:r>
            <a:r>
              <a:rPr b="1" lang="en-US" sz="1500" spc="-1" strike="noStrike">
                <a:solidFill>
                  <a:srgbClr val="1e3a8a"/>
                </a:solidFill>
                <a:latin typeface="Calibri"/>
              </a:rPr>
              <a:t>Prophet Forecast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7"/>
          <p:cNvSpPr/>
          <p:nvPr/>
        </p:nvSpPr>
        <p:spPr>
          <a:xfrm>
            <a:off x="365760" y="1874520"/>
            <a:ext cx="3565800" cy="16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Прогноз на 12 / 6 / 3 месяца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95% доверительный интервал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Годовая сезонность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Fallback: линейная регрессия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Компонент тренда на графике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ectangle 8"/>
          <p:cNvSpPr/>
          <p:nvPr/>
        </p:nvSpPr>
        <p:spPr>
          <a:xfrm>
            <a:off x="4251960" y="1280160"/>
            <a:ext cx="3748680" cy="5303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9"/>
          <p:cNvSpPr/>
          <p:nvPr/>
        </p:nvSpPr>
        <p:spPr>
          <a:xfrm>
            <a:off x="4343400" y="1371600"/>
            <a:ext cx="36572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3a8a"/>
                </a:solidFill>
                <a:latin typeface="Calibri"/>
              </a:rPr>
              <a:t>⚡  </a:t>
            </a:r>
            <a:r>
              <a:rPr b="1" lang="en-US" sz="1500" spc="-1" strike="noStrike">
                <a:solidFill>
                  <a:srgbClr val="1e3a8a"/>
                </a:solidFill>
                <a:latin typeface="Calibri"/>
              </a:rPr>
              <a:t>Risk Scoring (ТЗ)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10"/>
          <p:cNvSpPr/>
          <p:nvPr/>
        </p:nvSpPr>
        <p:spPr>
          <a:xfrm>
            <a:off x="4343400" y="1874520"/>
            <a:ext cx="3565800" cy="29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risk_score =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0.35 × incident_rate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+ 0.30 × violation_rate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+ 0.20 × trend_slope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+ 0.15 × severity_factor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Нормализация: 0–100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ef4444"/>
                </a:solidFill>
                <a:latin typeface="Calibri"/>
              </a:rPr>
              <a:t>CRITICAL ≥ 70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59e0b"/>
                </a:solidFill>
                <a:latin typeface="Calibri"/>
              </a:rPr>
              <a:t>HIGH     ≥ 50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MEDIUM   ≥ 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</a:rPr>
              <a:t>LOW       &lt; 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ectangle 11"/>
          <p:cNvSpPr/>
          <p:nvPr/>
        </p:nvSpPr>
        <p:spPr>
          <a:xfrm>
            <a:off x="8229600" y="1280160"/>
            <a:ext cx="3748680" cy="5303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12"/>
          <p:cNvSpPr/>
          <p:nvPr/>
        </p:nvSpPr>
        <p:spPr>
          <a:xfrm>
            <a:off x="8321040" y="1371600"/>
            <a:ext cx="36572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3a8a"/>
                </a:solidFill>
                <a:latin typeface="Calibri"/>
              </a:rPr>
              <a:t>🎯  </a:t>
            </a:r>
            <a:r>
              <a:rPr b="1" lang="en-US" sz="1500" spc="-1" strike="noStrike">
                <a:solidFill>
                  <a:srgbClr val="1e3a8a"/>
                </a:solidFill>
                <a:latin typeface="Calibri"/>
              </a:rPr>
              <a:t>Сценарный анализ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3"/>
          <p:cNvSpPr/>
          <p:nvPr/>
        </p:nvSpPr>
        <p:spPr>
          <a:xfrm>
            <a:off x="8321040" y="1874520"/>
            <a:ext cx="3565800" cy="26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9 мер контроля (LOTO,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 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СИЗ, Высота, Огонь...)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Снижение нарушений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 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по категориям Коргау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× Pearson r = 0.415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= ожид. снижение НС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Экономика: избежанные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инциденты × 5 млн 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Rectangle 2"/>
          <p:cNvSpPr/>
          <p:nvPr/>
        </p:nvSpPr>
        <p:spPr>
          <a:xfrm>
            <a:off x="0" y="0"/>
            <a:ext cx="12188520" cy="118836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365760" y="13716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Карты Коргау — поведенческий аудит безопасности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365760" y="749880"/>
            <a:ext cx="9143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ad4f8"/>
                </a:solidFill>
                <a:latin typeface="Calibri"/>
              </a:rPr>
              <a:t>9 917 наблюдений  •  Корреляция с инцидентами r = 0.415 (Pearson)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 5"/>
          <p:cNvSpPr/>
          <p:nvPr/>
        </p:nvSpPr>
        <p:spPr>
          <a:xfrm>
            <a:off x="274320" y="1371600"/>
            <a:ext cx="3748680" cy="210276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6"/>
          <p:cNvSpPr/>
          <p:nvPr/>
        </p:nvSpPr>
        <p:spPr>
          <a:xfrm>
            <a:off x="411480" y="146304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</a:rPr>
              <a:t>F-10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7"/>
          <p:cNvSpPr/>
          <p:nvPr/>
        </p:nvSpPr>
        <p:spPr>
          <a:xfrm>
            <a:off x="411480" y="1737360"/>
            <a:ext cx="3474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Паттерны нарушений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8"/>
          <p:cNvSpPr/>
          <p:nvPr/>
        </p:nvSpPr>
        <p:spPr>
          <a:xfrm>
            <a:off x="411480" y="2148840"/>
            <a:ext cx="3474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groupby (org, category, month)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топ нарушителей и категорий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ectangle 9"/>
          <p:cNvSpPr/>
          <p:nvPr/>
        </p:nvSpPr>
        <p:spPr>
          <a:xfrm>
            <a:off x="4251960" y="1371600"/>
            <a:ext cx="3748680" cy="210276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10"/>
          <p:cNvSpPr/>
          <p:nvPr/>
        </p:nvSpPr>
        <p:spPr>
          <a:xfrm>
            <a:off x="4389120" y="146304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</a:rPr>
              <a:t>F-11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11"/>
          <p:cNvSpPr/>
          <p:nvPr/>
        </p:nvSpPr>
        <p:spPr>
          <a:xfrm>
            <a:off x="4389120" y="1737360"/>
            <a:ext cx="3474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Система алертов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12"/>
          <p:cNvSpPr/>
          <p:nvPr/>
        </p:nvSpPr>
        <p:spPr>
          <a:xfrm>
            <a:off x="4389120" y="2148840"/>
            <a:ext cx="3474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CRITICAL &gt; 50 нарушений/30 дней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HIGH &gt; 30  •  MEDIUM &gt; 15  •  LOW &gt; 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ectangle 13"/>
          <p:cNvSpPr/>
          <p:nvPr/>
        </p:nvSpPr>
        <p:spPr>
          <a:xfrm>
            <a:off x="8229600" y="1371600"/>
            <a:ext cx="3748680" cy="210276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14"/>
          <p:cNvSpPr/>
          <p:nvPr/>
        </p:nvSpPr>
        <p:spPr>
          <a:xfrm>
            <a:off x="8366760" y="146304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</a:rPr>
              <a:t>F-12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15"/>
          <p:cNvSpPr/>
          <p:nvPr/>
        </p:nvSpPr>
        <p:spPr>
          <a:xfrm>
            <a:off x="8366760" y="1737360"/>
            <a:ext cx="3474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Рейтинг организаций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16"/>
          <p:cNvSpPr/>
          <p:nvPr/>
        </p:nvSpPr>
        <p:spPr>
          <a:xfrm>
            <a:off x="8366760" y="2148840"/>
            <a:ext cx="3474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64 org  •  violation_rate 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compliance_rate  •  work_stops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 17"/>
          <p:cNvSpPr/>
          <p:nvPr/>
        </p:nvSpPr>
        <p:spPr>
          <a:xfrm>
            <a:off x="274320" y="3703320"/>
            <a:ext cx="3748680" cy="2102760"/>
          </a:xfrm>
          <a:prstGeom prst="rect">
            <a:avLst/>
          </a:prstGeom>
          <a:solidFill>
            <a:srgbClr val="2d6a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18"/>
          <p:cNvSpPr/>
          <p:nvPr/>
        </p:nvSpPr>
        <p:spPr>
          <a:xfrm>
            <a:off x="411480" y="379476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</a:rPr>
              <a:t>F-13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19"/>
          <p:cNvSpPr/>
          <p:nvPr/>
        </p:nvSpPr>
        <p:spPr>
          <a:xfrm>
            <a:off x="411480" y="4069080"/>
            <a:ext cx="3474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Корреляция НС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20"/>
          <p:cNvSpPr/>
          <p:nvPr/>
        </p:nvSpPr>
        <p:spPr>
          <a:xfrm>
            <a:off x="411480" y="4480560"/>
            <a:ext cx="3474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Pearson r=0.415  Spearman r=0.501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статистически значима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ectangle 21"/>
          <p:cNvSpPr/>
          <p:nvPr/>
        </p:nvSpPr>
        <p:spPr>
          <a:xfrm>
            <a:off x="4251960" y="3703320"/>
            <a:ext cx="3748680" cy="2102760"/>
          </a:xfrm>
          <a:prstGeom prst="rect">
            <a:avLst/>
          </a:prstGeom>
          <a:solidFill>
            <a:srgbClr val="2d6a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22"/>
          <p:cNvSpPr/>
          <p:nvPr/>
        </p:nvSpPr>
        <p:spPr>
          <a:xfrm>
            <a:off x="4389120" y="379476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</a:rPr>
              <a:t>F-14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23"/>
          <p:cNvSpPr/>
          <p:nvPr/>
        </p:nvSpPr>
        <p:spPr>
          <a:xfrm>
            <a:off x="4389120" y="4069080"/>
            <a:ext cx="3474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Pre-alert тренд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24"/>
          <p:cNvSpPr/>
          <p:nvPr/>
        </p:nvSpPr>
        <p:spPr>
          <a:xfrm>
            <a:off x="4389120" y="4480560"/>
            <a:ext cx="3474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рост / снижение / стабильно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по последним 3 месяцам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ectangle 25"/>
          <p:cNvSpPr/>
          <p:nvPr/>
        </p:nvSpPr>
        <p:spPr>
          <a:xfrm>
            <a:off x="8229600" y="3703320"/>
            <a:ext cx="3748680" cy="2102760"/>
          </a:xfrm>
          <a:prstGeom prst="rect">
            <a:avLst/>
          </a:prstGeom>
          <a:solidFill>
            <a:srgbClr val="2d6a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26"/>
          <p:cNvSpPr/>
          <p:nvPr/>
        </p:nvSpPr>
        <p:spPr>
          <a:xfrm>
            <a:off x="8366760" y="3794760"/>
            <a:ext cx="91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</a:rPr>
              <a:t>F-15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27"/>
          <p:cNvSpPr/>
          <p:nvPr/>
        </p:nvSpPr>
        <p:spPr>
          <a:xfrm>
            <a:off x="8366760" y="4069080"/>
            <a:ext cx="3474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AI-кластеризация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28"/>
          <p:cNvSpPr/>
          <p:nvPr/>
        </p:nvSpPr>
        <p:spPr>
          <a:xfrm>
            <a:off x="8366760" y="4480560"/>
            <a:ext cx="3474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Gemini 2.0 Flash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10 тематических кластеров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Rectangle 2"/>
          <p:cNvSpPr/>
          <p:nvPr/>
        </p:nvSpPr>
        <p:spPr>
          <a:xfrm>
            <a:off x="0" y="0"/>
            <a:ext cx="12188520" cy="118836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3"/>
          <p:cNvSpPr/>
          <p:nvPr/>
        </p:nvSpPr>
        <p:spPr>
          <a:xfrm>
            <a:off x="365760" y="13716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Экономический эффект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4"/>
          <p:cNvSpPr/>
          <p:nvPr/>
        </p:nvSpPr>
        <p:spPr>
          <a:xfrm>
            <a:off x="365760" y="749880"/>
            <a:ext cx="9143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ad4f8"/>
                </a:solidFill>
                <a:latin typeface="Calibri"/>
              </a:rPr>
              <a:t>Измеримый результат внедрения AI-аналитики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ectangle 5"/>
          <p:cNvSpPr/>
          <p:nvPr/>
        </p:nvSpPr>
        <p:spPr>
          <a:xfrm>
            <a:off x="274320" y="1280160"/>
            <a:ext cx="11612520" cy="3654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TextBox 6"/>
          <p:cNvSpPr/>
          <p:nvPr/>
        </p:nvSpPr>
        <p:spPr>
          <a:xfrm>
            <a:off x="274320" y="1280160"/>
            <a:ext cx="11612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В ЛЮДЯХ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274320" y="1691640"/>
            <a:ext cx="2239920" cy="123408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8"/>
          <p:cNvSpPr/>
          <p:nvPr/>
        </p:nvSpPr>
        <p:spPr>
          <a:xfrm>
            <a:off x="274320" y="1783080"/>
            <a:ext cx="22399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↓ </a:t>
            </a: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38%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9"/>
          <p:cNvSpPr/>
          <p:nvPr/>
        </p:nvSpPr>
        <p:spPr>
          <a:xfrm>
            <a:off x="274320" y="2423160"/>
            <a:ext cx="2239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Несчастных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случаев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ectangle 10"/>
          <p:cNvSpPr/>
          <p:nvPr/>
        </p:nvSpPr>
        <p:spPr>
          <a:xfrm>
            <a:off x="2615040" y="1691640"/>
            <a:ext cx="2239920" cy="123408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11"/>
          <p:cNvSpPr/>
          <p:nvPr/>
        </p:nvSpPr>
        <p:spPr>
          <a:xfrm>
            <a:off x="2615040" y="1783080"/>
            <a:ext cx="22399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↓ </a:t>
            </a: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40%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12"/>
          <p:cNvSpPr/>
          <p:nvPr/>
        </p:nvSpPr>
        <p:spPr>
          <a:xfrm>
            <a:off x="2615040" y="2423160"/>
            <a:ext cx="2239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Микро-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травм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ectangle 13"/>
          <p:cNvSpPr/>
          <p:nvPr/>
        </p:nvSpPr>
        <p:spPr>
          <a:xfrm>
            <a:off x="4956120" y="1691640"/>
            <a:ext cx="2239920" cy="123408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14"/>
          <p:cNvSpPr/>
          <p:nvPr/>
        </p:nvSpPr>
        <p:spPr>
          <a:xfrm>
            <a:off x="4956120" y="1783080"/>
            <a:ext cx="22399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↓ </a:t>
            </a: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50%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15"/>
          <p:cNvSpPr/>
          <p:nvPr/>
        </p:nvSpPr>
        <p:spPr>
          <a:xfrm>
            <a:off x="4956120" y="2423160"/>
            <a:ext cx="2239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Опасных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ситуаций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ectangle 16"/>
          <p:cNvSpPr/>
          <p:nvPr/>
        </p:nvSpPr>
        <p:spPr>
          <a:xfrm>
            <a:off x="7296840" y="1691640"/>
            <a:ext cx="2239920" cy="123408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17"/>
          <p:cNvSpPr/>
          <p:nvPr/>
        </p:nvSpPr>
        <p:spPr>
          <a:xfrm>
            <a:off x="7296840" y="1783080"/>
            <a:ext cx="22399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↓ </a:t>
            </a: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83%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18"/>
          <p:cNvSpPr/>
          <p:nvPr/>
        </p:nvSpPr>
        <p:spPr>
          <a:xfrm>
            <a:off x="7296840" y="2423160"/>
            <a:ext cx="2239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Время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реагирования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 19"/>
          <p:cNvSpPr/>
          <p:nvPr/>
        </p:nvSpPr>
        <p:spPr>
          <a:xfrm>
            <a:off x="9637920" y="1691640"/>
            <a:ext cx="2239920" cy="12340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20"/>
          <p:cNvSpPr/>
          <p:nvPr/>
        </p:nvSpPr>
        <p:spPr>
          <a:xfrm>
            <a:off x="9637920" y="1783080"/>
            <a:ext cx="22399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↑ </a:t>
            </a: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70%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21"/>
          <p:cNvSpPr/>
          <p:nvPr/>
        </p:nvSpPr>
        <p:spPr>
          <a:xfrm>
            <a:off x="9637920" y="2423160"/>
            <a:ext cx="2239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Охват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ad4f8"/>
                </a:solidFill>
                <a:latin typeface="Calibri"/>
              </a:rPr>
              <a:t>предиктивом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ectangle 22"/>
          <p:cNvSpPr/>
          <p:nvPr/>
        </p:nvSpPr>
        <p:spPr>
          <a:xfrm>
            <a:off x="274320" y="3063240"/>
            <a:ext cx="11612520" cy="3654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TextBox 23"/>
          <p:cNvSpPr/>
          <p:nvPr/>
        </p:nvSpPr>
        <p:spPr>
          <a:xfrm>
            <a:off x="274320" y="3063240"/>
            <a:ext cx="11612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В ДЕНЬГАХ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ectangle 24"/>
          <p:cNvSpPr/>
          <p:nvPr/>
        </p:nvSpPr>
        <p:spPr>
          <a:xfrm>
            <a:off x="274320" y="3474720"/>
            <a:ext cx="11612520" cy="456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TextBox 25"/>
          <p:cNvSpPr/>
          <p:nvPr/>
        </p:nvSpPr>
        <p:spPr>
          <a:xfrm>
            <a:off x="457200" y="3547800"/>
            <a:ext cx="8686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Прямые затраты на НС  (7 × 5 млн ₸)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26"/>
          <p:cNvSpPr/>
          <p:nvPr/>
        </p:nvSpPr>
        <p:spPr>
          <a:xfrm>
            <a:off x="9144000" y="3547800"/>
            <a:ext cx="25599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e3a8a"/>
                </a:solidFill>
                <a:latin typeface="Calibri"/>
              </a:rPr>
              <a:t>≈ </a:t>
            </a:r>
            <a:r>
              <a:rPr b="1" lang="en-US" sz="1300" spc="-1" strike="noStrike">
                <a:solidFill>
                  <a:srgbClr val="1e3a8a"/>
                </a:solidFill>
                <a:latin typeface="Calibri"/>
              </a:rPr>
              <a:t>35 000 000 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ectangle 27"/>
          <p:cNvSpPr/>
          <p:nvPr/>
        </p:nvSpPr>
        <p:spPr>
          <a:xfrm>
            <a:off x="274320" y="3950280"/>
            <a:ext cx="11612520" cy="4568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28"/>
          <p:cNvSpPr/>
          <p:nvPr/>
        </p:nvSpPr>
        <p:spPr>
          <a:xfrm>
            <a:off x="457200" y="4023360"/>
            <a:ext cx="8686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Косвенные потери  (простой, репутация)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29"/>
          <p:cNvSpPr/>
          <p:nvPr/>
        </p:nvSpPr>
        <p:spPr>
          <a:xfrm>
            <a:off x="9144000" y="4023360"/>
            <a:ext cx="25599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e3a8a"/>
                </a:solidFill>
                <a:latin typeface="Calibri"/>
              </a:rPr>
              <a:t>≈ </a:t>
            </a:r>
            <a:r>
              <a:rPr b="1" lang="en-US" sz="1300" spc="-1" strike="noStrike">
                <a:solidFill>
                  <a:srgbClr val="1e3a8a"/>
                </a:solidFill>
                <a:latin typeface="Calibri"/>
              </a:rPr>
              <a:t>70 000 000 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Rectangle 30"/>
          <p:cNvSpPr/>
          <p:nvPr/>
        </p:nvSpPr>
        <p:spPr>
          <a:xfrm>
            <a:off x="274320" y="4425840"/>
            <a:ext cx="11612520" cy="456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TextBox 31"/>
          <p:cNvSpPr/>
          <p:nvPr/>
        </p:nvSpPr>
        <p:spPr>
          <a:xfrm>
            <a:off x="457200" y="4498920"/>
            <a:ext cx="8686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Штрафы и предписания  (−30%)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32"/>
          <p:cNvSpPr/>
          <p:nvPr/>
        </p:nvSpPr>
        <p:spPr>
          <a:xfrm>
            <a:off x="9144000" y="4498920"/>
            <a:ext cx="25599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e3a8a"/>
                </a:solidFill>
                <a:latin typeface="Calibri"/>
              </a:rPr>
              <a:t>≈  </a:t>
            </a:r>
            <a:r>
              <a:rPr b="1" lang="en-US" sz="1300" spc="-1" strike="noStrike">
                <a:solidFill>
                  <a:srgbClr val="1e3a8a"/>
                </a:solidFill>
                <a:latin typeface="Calibri"/>
              </a:rPr>
              <a:t>5 000 000 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ectangle 33"/>
          <p:cNvSpPr/>
          <p:nvPr/>
        </p:nvSpPr>
        <p:spPr>
          <a:xfrm>
            <a:off x="274320" y="4901040"/>
            <a:ext cx="11612520" cy="4568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TextBox 34"/>
          <p:cNvSpPr/>
          <p:nvPr/>
        </p:nvSpPr>
        <p:spPr>
          <a:xfrm>
            <a:off x="457200" y="4974480"/>
            <a:ext cx="8686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Расследования и отчётность  (−70%)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35"/>
          <p:cNvSpPr/>
          <p:nvPr/>
        </p:nvSpPr>
        <p:spPr>
          <a:xfrm>
            <a:off x="9144000" y="4974480"/>
            <a:ext cx="25599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e3a8a"/>
                </a:solidFill>
                <a:latin typeface="Calibri"/>
              </a:rPr>
              <a:t>≈  </a:t>
            </a:r>
            <a:r>
              <a:rPr b="1" lang="en-US" sz="1300" spc="-1" strike="noStrike">
                <a:solidFill>
                  <a:srgbClr val="1e3a8a"/>
                </a:solidFill>
                <a:latin typeface="Calibri"/>
              </a:rPr>
              <a:t>8 000 000 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Rectangle 36"/>
          <p:cNvSpPr/>
          <p:nvPr/>
        </p:nvSpPr>
        <p:spPr>
          <a:xfrm>
            <a:off x="274320" y="5376600"/>
            <a:ext cx="11612520" cy="456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TextBox 37"/>
          <p:cNvSpPr/>
          <p:nvPr/>
        </p:nvSpPr>
        <p:spPr>
          <a:xfrm>
            <a:off x="457200" y="5449680"/>
            <a:ext cx="8686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ROI автоматизации аудитов  (+40%)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38"/>
          <p:cNvSpPr/>
          <p:nvPr/>
        </p:nvSpPr>
        <p:spPr>
          <a:xfrm>
            <a:off x="9144000" y="5449680"/>
            <a:ext cx="25599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e3a8a"/>
                </a:solidFill>
                <a:latin typeface="Calibri"/>
              </a:rPr>
              <a:t>≈  </a:t>
            </a:r>
            <a:r>
              <a:rPr b="1" lang="en-US" sz="1300" spc="-1" strike="noStrike">
                <a:solidFill>
                  <a:srgbClr val="1e3a8a"/>
                </a:solidFill>
                <a:latin typeface="Calibri"/>
              </a:rPr>
              <a:t>3 000 000 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ectangle 39"/>
          <p:cNvSpPr/>
          <p:nvPr/>
        </p:nvSpPr>
        <p:spPr>
          <a:xfrm>
            <a:off x="274320" y="5897880"/>
            <a:ext cx="11612520" cy="63972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TextBox 40"/>
          <p:cNvSpPr/>
          <p:nvPr/>
        </p:nvSpPr>
        <p:spPr>
          <a:xfrm>
            <a:off x="274320" y="5897880"/>
            <a:ext cx="116125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ИТОГО:   ≈ 121 000 000 ₸  (~250 000 USD)  в год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Rectangle 2"/>
          <p:cNvSpPr/>
          <p:nvPr/>
        </p:nvSpPr>
        <p:spPr>
          <a:xfrm>
            <a:off x="0" y="0"/>
            <a:ext cx="12188520" cy="118836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TextBox 3"/>
          <p:cNvSpPr/>
          <p:nvPr/>
        </p:nvSpPr>
        <p:spPr>
          <a:xfrm>
            <a:off x="365760" y="13716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Технологический стек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365760" y="749880"/>
            <a:ext cx="9143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ad4f8"/>
                </a:solidFill>
                <a:latin typeface="Calibri"/>
              </a:rPr>
              <a:t>Production-ready Python-монолит с Docker Compose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ectangle 5"/>
          <p:cNvSpPr/>
          <p:nvPr/>
        </p:nvSpPr>
        <p:spPr>
          <a:xfrm>
            <a:off x="274320" y="1371600"/>
            <a:ext cx="3748680" cy="223992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6"/>
          <p:cNvSpPr/>
          <p:nvPr/>
        </p:nvSpPr>
        <p:spPr>
          <a:xfrm>
            <a:off x="411480" y="1481400"/>
            <a:ext cx="3474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🔧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Backend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 7"/>
          <p:cNvSpPr/>
          <p:nvPr/>
        </p:nvSpPr>
        <p:spPr>
          <a:xfrm>
            <a:off x="274320" y="1901880"/>
            <a:ext cx="3748680" cy="27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extBox 8"/>
          <p:cNvSpPr/>
          <p:nvPr/>
        </p:nvSpPr>
        <p:spPr>
          <a:xfrm>
            <a:off x="411480" y="1993320"/>
            <a:ext cx="34743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bad4f8"/>
                </a:solidFill>
                <a:latin typeface="Calibri"/>
              </a:rPr>
              <a:t>Python 3.11  •  FastAPI  •  uvicorn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ad4f8"/>
                </a:solidFill>
                <a:latin typeface="Calibri"/>
              </a:rPr>
              <a:t>15 REST-эндпоинтов  •  OpenAPI /docs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ectangle 9"/>
          <p:cNvSpPr/>
          <p:nvPr/>
        </p:nvSpPr>
        <p:spPr>
          <a:xfrm>
            <a:off x="4251960" y="1371600"/>
            <a:ext cx="3748680" cy="2239920"/>
          </a:xfrm>
          <a:prstGeom prst="rect">
            <a:avLst/>
          </a:prstGeom>
          <a:solidFill>
            <a:srgbClr val="2d6a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10"/>
          <p:cNvSpPr/>
          <p:nvPr/>
        </p:nvSpPr>
        <p:spPr>
          <a:xfrm>
            <a:off x="4389120" y="1481400"/>
            <a:ext cx="3474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📊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ML Core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ectangle 11"/>
          <p:cNvSpPr/>
          <p:nvPr/>
        </p:nvSpPr>
        <p:spPr>
          <a:xfrm>
            <a:off x="4251960" y="1901880"/>
            <a:ext cx="3748680" cy="27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TextBox 12"/>
          <p:cNvSpPr/>
          <p:nvPr/>
        </p:nvSpPr>
        <p:spPr>
          <a:xfrm>
            <a:off x="4389120" y="1993320"/>
            <a:ext cx="347436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bad4f8"/>
                </a:solidFill>
                <a:latin typeface="Calibri"/>
              </a:rPr>
              <a:t>Prophet (time series)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bad4f8"/>
                </a:solidFill>
                <a:latin typeface="Calibri"/>
              </a:rPr>
              <a:t>scikit-learn: TF-IDF + KMeans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ad4f8"/>
                </a:solidFill>
                <a:latin typeface="Calibri"/>
              </a:rPr>
              <a:t>Risk Scoring + Pearson/Spearman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ectangle 13"/>
          <p:cNvSpPr/>
          <p:nvPr/>
        </p:nvSpPr>
        <p:spPr>
          <a:xfrm>
            <a:off x="8229600" y="3840480"/>
            <a:ext cx="3748680" cy="2239920"/>
          </a:xfrm>
          <a:prstGeom prst="rect">
            <a:avLst/>
          </a:prstGeom>
          <a:solidFill>
            <a:srgbClr val="2d6a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14"/>
          <p:cNvSpPr/>
          <p:nvPr/>
        </p:nvSpPr>
        <p:spPr>
          <a:xfrm>
            <a:off x="8366760" y="3950280"/>
            <a:ext cx="3474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🤖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NLP / CV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Rectangle 15"/>
          <p:cNvSpPr/>
          <p:nvPr/>
        </p:nvSpPr>
        <p:spPr>
          <a:xfrm>
            <a:off x="8229600" y="4370760"/>
            <a:ext cx="3748680" cy="27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16"/>
          <p:cNvSpPr/>
          <p:nvPr/>
        </p:nvSpPr>
        <p:spPr>
          <a:xfrm>
            <a:off x="8366760" y="4462200"/>
            <a:ext cx="347436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bad4f8"/>
                </a:solidFill>
                <a:latin typeface="Calibri"/>
              </a:rPr>
              <a:t>Google Gemini 2.0 Flash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bad4f8"/>
                </a:solidFill>
                <a:latin typeface="Calibri"/>
              </a:rPr>
              <a:t>классификация  •  рекомендации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ad4f8"/>
                </a:solidFill>
                <a:latin typeface="Calibri"/>
              </a:rPr>
              <a:t>Gemini Vision (CV-анализ фото)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ectangle 17"/>
          <p:cNvSpPr/>
          <p:nvPr/>
        </p:nvSpPr>
        <p:spPr>
          <a:xfrm>
            <a:off x="274320" y="3840480"/>
            <a:ext cx="3748680" cy="223992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18"/>
          <p:cNvSpPr/>
          <p:nvPr/>
        </p:nvSpPr>
        <p:spPr>
          <a:xfrm>
            <a:off x="411480" y="3950280"/>
            <a:ext cx="3474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📈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Frontend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 19"/>
          <p:cNvSpPr/>
          <p:nvPr/>
        </p:nvSpPr>
        <p:spPr>
          <a:xfrm>
            <a:off x="274320" y="4370760"/>
            <a:ext cx="3748680" cy="27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TextBox 20"/>
          <p:cNvSpPr/>
          <p:nvPr/>
        </p:nvSpPr>
        <p:spPr>
          <a:xfrm>
            <a:off x="411480" y="4462200"/>
            <a:ext cx="347436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bad4f8"/>
                </a:solidFill>
                <a:latin typeface="Calibri"/>
              </a:rPr>
              <a:t>Streamlit  •  4 таба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bad4f8"/>
                </a:solidFill>
                <a:latin typeface="Calibri"/>
              </a:rPr>
              <a:t>10 Plotly-графиков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ad4f8"/>
                </a:solidFill>
                <a:latin typeface="Calibri"/>
              </a:rPr>
              <a:t>CI-лента прогноза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Rectangle 21"/>
          <p:cNvSpPr/>
          <p:nvPr/>
        </p:nvSpPr>
        <p:spPr>
          <a:xfrm>
            <a:off x="4343400" y="3932280"/>
            <a:ext cx="3748680" cy="223992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22"/>
          <p:cNvSpPr/>
          <p:nvPr/>
        </p:nvSpPr>
        <p:spPr>
          <a:xfrm>
            <a:off x="4343400" y="3981240"/>
            <a:ext cx="3474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📄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Отчёты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Rectangle 23"/>
          <p:cNvSpPr/>
          <p:nvPr/>
        </p:nvSpPr>
        <p:spPr>
          <a:xfrm>
            <a:off x="4251960" y="6839640"/>
            <a:ext cx="3748680" cy="27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TextBox 24"/>
          <p:cNvSpPr/>
          <p:nvPr/>
        </p:nvSpPr>
        <p:spPr>
          <a:xfrm>
            <a:off x="4343400" y="4573080"/>
            <a:ext cx="347436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bad4f8"/>
                </a:solidFill>
                <a:latin typeface="Calibri"/>
              </a:rPr>
              <a:t>fpdf2  •  4-страничный PDF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bad4f8"/>
                </a:solidFill>
                <a:latin typeface="Calibri"/>
              </a:rPr>
              <a:t>DejaVu TTF (кириллица)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ad4f8"/>
                </a:solidFill>
                <a:latin typeface="Calibri"/>
              </a:rPr>
              <a:t>KPI + графики + алерты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ectangle 25"/>
          <p:cNvSpPr/>
          <p:nvPr/>
        </p:nvSpPr>
        <p:spPr>
          <a:xfrm>
            <a:off x="8138520" y="1420200"/>
            <a:ext cx="3748680" cy="223992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TextBox 26"/>
          <p:cNvSpPr/>
          <p:nvPr/>
        </p:nvSpPr>
        <p:spPr>
          <a:xfrm>
            <a:off x="8184240" y="1510560"/>
            <a:ext cx="3474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🐳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DevOps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ectangle 27"/>
          <p:cNvSpPr/>
          <p:nvPr/>
        </p:nvSpPr>
        <p:spPr>
          <a:xfrm>
            <a:off x="8229600" y="6839640"/>
            <a:ext cx="3748680" cy="27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TextBox 28"/>
          <p:cNvSpPr/>
          <p:nvPr/>
        </p:nvSpPr>
        <p:spPr>
          <a:xfrm>
            <a:off x="8184240" y="2058480"/>
            <a:ext cx="347436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bad4f8"/>
                </a:solidFill>
                <a:latin typeface="Calibri"/>
              </a:rPr>
              <a:t>Docker + Docker Compose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bad4f8"/>
                </a:solidFill>
                <a:latin typeface="Calibri"/>
              </a:rPr>
              <a:t>hse-api :8002  •  hse-ui :8502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ad4f8"/>
                </a:solidFill>
                <a:latin typeface="Calibri"/>
              </a:rPr>
              <a:t>healthcheck + networks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ectangle 4"/>
          <p:cNvSpPr/>
          <p:nvPr/>
        </p:nvSpPr>
        <p:spPr>
          <a:xfrm>
            <a:off x="4343400" y="4406040"/>
            <a:ext cx="3748680" cy="27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Rectangle 6"/>
          <p:cNvSpPr/>
          <p:nvPr/>
        </p:nvSpPr>
        <p:spPr>
          <a:xfrm>
            <a:off x="274320" y="4393800"/>
            <a:ext cx="3748680" cy="27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Rectangle 12"/>
          <p:cNvSpPr/>
          <p:nvPr/>
        </p:nvSpPr>
        <p:spPr>
          <a:xfrm>
            <a:off x="8146800" y="1893960"/>
            <a:ext cx="3748680" cy="27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Rectangle 2"/>
          <p:cNvSpPr/>
          <p:nvPr/>
        </p:nvSpPr>
        <p:spPr>
          <a:xfrm>
            <a:off x="0" y="0"/>
            <a:ext cx="12188520" cy="118836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TextBox 3"/>
          <p:cNvSpPr/>
          <p:nvPr/>
        </p:nvSpPr>
        <p:spPr>
          <a:xfrm>
            <a:off x="365760" y="13716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Дашборд — 4 вкладки Streamlit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4"/>
          <p:cNvSpPr/>
          <p:nvPr/>
        </p:nvSpPr>
        <p:spPr>
          <a:xfrm>
            <a:off x="365760" y="749880"/>
            <a:ext cx="9143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ad4f8"/>
                </a:solidFill>
                <a:latin typeface="Calibri"/>
              </a:rPr>
              <a:t>http://localhost:8502  •  Swagger http://localhost:8002/docs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Rectangle 5"/>
          <p:cNvSpPr/>
          <p:nvPr/>
        </p:nvSpPr>
        <p:spPr>
          <a:xfrm>
            <a:off x="274320" y="1280160"/>
            <a:ext cx="2742840" cy="530316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6"/>
          <p:cNvSpPr/>
          <p:nvPr/>
        </p:nvSpPr>
        <p:spPr>
          <a:xfrm>
            <a:off x="365760" y="1371600"/>
            <a:ext cx="2559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📊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Инциденты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Rectangle 7"/>
          <p:cNvSpPr/>
          <p:nvPr/>
        </p:nvSpPr>
        <p:spPr>
          <a:xfrm>
            <a:off x="274320" y="1828800"/>
            <a:ext cx="2742840" cy="27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TextBox 8"/>
          <p:cNvSpPr/>
          <p:nvPr/>
        </p:nvSpPr>
        <p:spPr>
          <a:xfrm>
            <a:off x="365760" y="1920240"/>
            <a:ext cx="2559960" cy="21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Динамика + скользящее среднее 3м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Pie по типам инцидентов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Топ-10 организаций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Кластеры причин (TF-IDF + KMeans)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NLP-классификатор (Gemini)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CV-анализ фото (Gemini Vision)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ectangle 9"/>
          <p:cNvSpPr/>
          <p:nvPr/>
        </p:nvSpPr>
        <p:spPr>
          <a:xfrm>
            <a:off x="3200400" y="1280160"/>
            <a:ext cx="2742840" cy="5303160"/>
          </a:xfrm>
          <a:prstGeom prst="rect">
            <a:avLst/>
          </a:prstGeom>
          <a:solidFill>
            <a:srgbClr val="2d6a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TextBox 10"/>
          <p:cNvSpPr/>
          <p:nvPr/>
        </p:nvSpPr>
        <p:spPr>
          <a:xfrm>
            <a:off x="3291840" y="1371600"/>
            <a:ext cx="2559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🔍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Карты Коргау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ectangle 11"/>
          <p:cNvSpPr/>
          <p:nvPr/>
        </p:nvSpPr>
        <p:spPr>
          <a:xfrm>
            <a:off x="3200400" y="1828800"/>
            <a:ext cx="2742840" cy="27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12"/>
          <p:cNvSpPr/>
          <p:nvPr/>
        </p:nvSpPr>
        <p:spPr>
          <a:xfrm>
            <a:off x="3291840" y="1920240"/>
            <a:ext cx="2559960" cy="14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Тренд нарушений топ-5 org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Рейтинг организаций (% нарушений)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Хорошие vs плохие практики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Pearson r / Spearman r метрики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Rectangle 13"/>
          <p:cNvSpPr/>
          <p:nvPr/>
        </p:nvSpPr>
        <p:spPr>
          <a:xfrm>
            <a:off x="6126480" y="1280160"/>
            <a:ext cx="2742840" cy="5303160"/>
          </a:xfrm>
          <a:prstGeom prst="rect">
            <a:avLst/>
          </a:prstGeom>
          <a:solidFill>
            <a:srgbClr val="2d6a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TextBox 14"/>
          <p:cNvSpPr/>
          <p:nvPr/>
        </p:nvSpPr>
        <p:spPr>
          <a:xfrm>
            <a:off x="6217920" y="1371600"/>
            <a:ext cx="2559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🔮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Предикт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Rectangle 15"/>
          <p:cNvSpPr/>
          <p:nvPr/>
        </p:nvSpPr>
        <p:spPr>
          <a:xfrm>
            <a:off x="6126480" y="1828800"/>
            <a:ext cx="2742840" cy="27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" name="TextBox 16"/>
          <p:cNvSpPr/>
          <p:nvPr/>
        </p:nvSpPr>
        <p:spPr>
          <a:xfrm>
            <a:off x="6217920" y="1920240"/>
            <a:ext cx="2559960" cy="12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Prophet: прогноз + 95% CI лента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Риск-скоринг + heatmap (0–100)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Матрица корреляций (heatmap)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Сценарный анализ мер контроля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Rectangle 17"/>
          <p:cNvSpPr/>
          <p:nvPr/>
        </p:nvSpPr>
        <p:spPr>
          <a:xfrm>
            <a:off x="9052560" y="1280160"/>
            <a:ext cx="2742840" cy="53031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TextBox 18"/>
          <p:cNvSpPr/>
          <p:nvPr/>
        </p:nvSpPr>
        <p:spPr>
          <a:xfrm>
            <a:off x="9144000" y="1371600"/>
            <a:ext cx="2559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🚨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Алерты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Rectangle 19"/>
          <p:cNvSpPr/>
          <p:nvPr/>
        </p:nvSpPr>
        <p:spPr>
          <a:xfrm>
            <a:off x="9052560" y="1828800"/>
            <a:ext cx="2742840" cy="27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" name="TextBox 20"/>
          <p:cNvSpPr/>
          <p:nvPr/>
        </p:nvSpPr>
        <p:spPr>
          <a:xfrm>
            <a:off x="9144000" y="1920240"/>
            <a:ext cx="2559960" cy="14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CRITICAL/HIGH/MEDIUM/LOW карточки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Фильтры по org и уровню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Счётчики по уровням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Кнопка скачать PDF-отчёт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Rectangle 2"/>
          <p:cNvSpPr/>
          <p:nvPr/>
        </p:nvSpPr>
        <p:spPr>
          <a:xfrm>
            <a:off x="0" y="5120640"/>
            <a:ext cx="12188520" cy="1737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Rectangle 3"/>
          <p:cNvSpPr/>
          <p:nvPr/>
        </p:nvSpPr>
        <p:spPr>
          <a:xfrm>
            <a:off x="0" y="5029200"/>
            <a:ext cx="12188520" cy="543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TextBox 4"/>
          <p:cNvSpPr/>
          <p:nvPr/>
        </p:nvSpPr>
        <p:spPr>
          <a:xfrm>
            <a:off x="457200" y="457200"/>
            <a:ext cx="109692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5600" spc="-1" strike="noStrike">
                <a:solidFill>
                  <a:srgbClr val="ffffff"/>
                </a:solidFill>
                <a:latin typeface="Calibri"/>
              </a:rPr>
              <a:t>🛡️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5"/>
          <p:cNvSpPr/>
          <p:nvPr/>
        </p:nvSpPr>
        <p:spPr>
          <a:xfrm>
            <a:off x="1645920" y="457200"/>
            <a:ext cx="914364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</a:rPr>
              <a:t>Результат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6"/>
          <p:cNvSpPr/>
          <p:nvPr/>
        </p:nvSpPr>
        <p:spPr>
          <a:xfrm>
            <a:off x="1645920" y="1371600"/>
            <a:ext cx="10058040" cy="25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Рабочий AI-дашборд  —  аналитика прошлых инцидентов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Предикт на 12 месяцев  —  Prophet + 95% CI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Сценарный анализ  —  расчёт эффекта мер контроля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4-уровневые алерты  —  CRITICAL → LOW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Топ-5 AI-рекомендаций  —  Gemini 2.0 Flash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CV-анализ фото  —  Gemini Vision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PDF-отчёт  —  4 страницы, кириллица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Экономика  —  121 млн ₸ / год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Box 7"/>
          <p:cNvSpPr/>
          <p:nvPr/>
        </p:nvSpPr>
        <p:spPr>
          <a:xfrm>
            <a:off x="457200" y="530352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ad4f8"/>
                </a:solidFill>
                <a:latin typeface="Calibri"/>
              </a:rPr>
              <a:t>FastAPI :8002  •  Streamlit :8502  •  docker compose up --build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8"/>
          <p:cNvSpPr/>
          <p:nvPr/>
        </p:nvSpPr>
        <p:spPr>
          <a:xfrm>
            <a:off x="457200" y="5943600"/>
            <a:ext cx="10972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</a:rPr>
              <a:t>KMG Hackathon 2026  •  github.com/Islambek201632838/kmg-hse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2026-03-18T15:55:43Z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